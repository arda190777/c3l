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6abe3cecc04b49" /><Relationship Type="http://schemas.openxmlformats.org/officeDocument/2006/relationships/extended-properties" Target="/docProps/app.xml" Id="Re0c1cbf054184324" /><Relationship Type="http://schemas.openxmlformats.org/officeDocument/2006/relationships/officeDocument" Target="/ppt/presentation.xml" Id="Rc78966be16cd40cf" /></Relationships>
</file>

<file path=ppt/presentation.xml><?xml version="1.0" encoding="utf-8"?>
<p:presentation xmlns:p="http://schemas.openxmlformats.org/presentationml/2006/main">
  <p:sldMasterIdLst>
    <p:sldMasterId xmlns:r="http://schemas.openxmlformats.org/officeDocument/2006/relationships" id="2147483648" r:id="Raefab094795548aa"/>
  </p:sldMasterIdLst>
  <p:notesMasterIdLst>
    <p:notesMasterId xmlns:r="http://schemas.openxmlformats.org/officeDocument/2006/relationships" r:id="Ree16b731e36543fc"/>
  </p:notesMasterIdLst>
  <p:sldIdLst>
    <p:sldId xmlns:r="http://schemas.openxmlformats.org/officeDocument/2006/relationships" id="256" r:id="R015eb33ba4dc4413"/>
    <p:sldId xmlns:r="http://schemas.openxmlformats.org/officeDocument/2006/relationships" id="257" r:id="Rafd96dc1cdab4301"/>
    <p:sldId xmlns:r="http://schemas.openxmlformats.org/officeDocument/2006/relationships" id="258" r:id="R2ecfa59869ff4936"/>
    <p:sldId xmlns:r="http://schemas.openxmlformats.org/officeDocument/2006/relationships" id="259" r:id="Rd8604dc13d1c436f"/>
    <p:sldId xmlns:r="http://schemas.openxmlformats.org/officeDocument/2006/relationships" id="260" r:id="R222641babfca4b76"/>
    <p:sldId xmlns:r="http://schemas.openxmlformats.org/officeDocument/2006/relationships" id="261" r:id="R45d40b5e0def4838"/>
    <p:sldId xmlns:r="http://schemas.openxmlformats.org/officeDocument/2006/relationships" id="262" r:id="R004da4bc22974166"/>
    <p:sldId xmlns:r="http://schemas.openxmlformats.org/officeDocument/2006/relationships" id="263" r:id="R6f298104fb774a49"/>
    <p:sldId xmlns:r="http://schemas.openxmlformats.org/officeDocument/2006/relationships" id="264" r:id="R42c68552fb1c4754"/>
    <p:sldId xmlns:r="http://schemas.openxmlformats.org/officeDocument/2006/relationships" id="265" r:id="R437e860d263e48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5b0f25acc3435b" /><Relationship Type="http://schemas.openxmlformats.org/officeDocument/2006/relationships/slideMaster" Target="/ppt/slideMasters/slideMaster1.xml" Id="Raefab094795548aa" /><Relationship Type="http://schemas.openxmlformats.org/officeDocument/2006/relationships/notesMaster" Target="/ppt/notesMasters/notesMaster1.xml" Id="Ree16b731e36543fc" /><Relationship Type="http://schemas.openxmlformats.org/officeDocument/2006/relationships/presProps" Target="/ppt/presProps.xml" Id="R613b75b8f197493b" /><Relationship Type="http://schemas.openxmlformats.org/officeDocument/2006/relationships/tableStyles" Target="/ppt/tableStyles.xml" Id="R93d1b5d11ce24f86" /><Relationship Type="http://schemas.openxmlformats.org/officeDocument/2006/relationships/slide" Target="/ppt/slides/slide1.xml" Id="R015eb33ba4dc4413" /><Relationship Type="http://schemas.openxmlformats.org/officeDocument/2006/relationships/slide" Target="/ppt/slides/slide2.xml" Id="Rafd96dc1cdab4301" /><Relationship Type="http://schemas.openxmlformats.org/officeDocument/2006/relationships/slide" Target="/ppt/slides/slide3.xml" Id="R2ecfa59869ff4936" /><Relationship Type="http://schemas.openxmlformats.org/officeDocument/2006/relationships/slide" Target="/ppt/slides/slide4.xml" Id="Rd8604dc13d1c436f" /><Relationship Type="http://schemas.openxmlformats.org/officeDocument/2006/relationships/slide" Target="/ppt/slides/slide5.xml" Id="R222641babfca4b76" /><Relationship Type="http://schemas.openxmlformats.org/officeDocument/2006/relationships/slide" Target="/ppt/slides/slide6.xml" Id="R45d40b5e0def4838" /><Relationship Type="http://schemas.openxmlformats.org/officeDocument/2006/relationships/slide" Target="/ppt/slides/slide7.xml" Id="R004da4bc22974166" /><Relationship Type="http://schemas.openxmlformats.org/officeDocument/2006/relationships/slide" Target="/ppt/slides/slide8.xml" Id="R6f298104fb774a49" /><Relationship Type="http://schemas.openxmlformats.org/officeDocument/2006/relationships/slide" Target="/ppt/slides/slide9.xml" Id="R42c68552fb1c4754" /><Relationship Type="http://schemas.openxmlformats.org/officeDocument/2006/relationships/slide" Target="/ppt/slides/slide10.xml" Id="R437e860d263e48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a37195018a4d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4decb4be2d41f3" /><Relationship Type="http://schemas.openxmlformats.org/officeDocument/2006/relationships/notesMaster" Target="/ppt/notesMasters/notesMaster1.xml" Id="R73968b2fe4f442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e45fc235d74028" /><Relationship Type="http://schemas.openxmlformats.org/officeDocument/2006/relationships/notesMaster" Target="/ppt/notesMasters/notesMaster1.xml" Id="Re29b46f9d82540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7efaade0f14a25" /><Relationship Type="http://schemas.openxmlformats.org/officeDocument/2006/relationships/notesMaster" Target="/ppt/notesMasters/notesMaster1.xml" Id="R06930a406a9746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b0eef91eea45fd" /><Relationship Type="http://schemas.openxmlformats.org/officeDocument/2006/relationships/notesMaster" Target="/ppt/notesMasters/notesMaster1.xml" Id="R723cb11ab2da40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d6496f718740ea" /><Relationship Type="http://schemas.openxmlformats.org/officeDocument/2006/relationships/notesMaster" Target="/ppt/notesMasters/notesMaster1.xml" Id="Rc3fbb095a15b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185bb88ae24e9d" /><Relationship Type="http://schemas.openxmlformats.org/officeDocument/2006/relationships/notesMaster" Target="/ppt/notesMasters/notesMaster1.xml" Id="R281ebdf50a0340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10710f3eb44fb3" /><Relationship Type="http://schemas.openxmlformats.org/officeDocument/2006/relationships/notesMaster" Target="/ppt/notesMasters/notesMaster1.xml" Id="Rd3755752843b42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5a95bd19e349f4" /><Relationship Type="http://schemas.openxmlformats.org/officeDocument/2006/relationships/notesMaster" Target="/ppt/notesMasters/notesMaster1.xml" Id="R674a1dfd8d2741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d0923ce69b4b08" /><Relationship Type="http://schemas.openxmlformats.org/officeDocument/2006/relationships/notesMaster" Target="/ppt/notesMasters/notesMaster1.xml" Id="Rb1cf2d7f20f044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90dc8163d64f8b" /><Relationship Type="http://schemas.openxmlformats.org/officeDocument/2006/relationships/notesMaster" Target="/ppt/notesMasters/notesMaster1.xml" Id="R166f6e1e753540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presenting Module 10, Attendance and Participation Tracking, for the C3L learning management system. Our group members are Arda Efe Cetintav, Jaspreet Gakhal, Gera Paoli and Nasir Ishaq Sani. Sprint 1 is our first working local prototype. We will show the selected requirements, our assigned responsibilities, the design, GitHub evidence and a short working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work is divided into two interface areas and two backend areas. My assigned code area is the attendance form: labels, status options, links and displayed field errors. I also check the submission forms and release details. Jaspreet's area is the history interface and the live demonstration. Gera handles saving records, validation and the database. Nasir handles history queries, filters, API verification and regression testing. Gera and Nasir have comparable technical workloads. These are the team's assigned responsibilities. The code and draft documents are prepared, and each member still needs to review and verify their area. I will show the attendance form before handing over to Jaspreet. ACTION: Open /10-attendance, point to course ID, student ID, date, status and notes. Do not save yet. Explain that labels and errors are rendered by formPage.js while storage is handled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module includes attendance, participation, reports and statistics. For Sprint 1 we selected the first three attendance functions. We can record a daily mark, correct it, view history and distinguish excused from unexcused absences. My assigned interface area is historyPage.js. It displays the filters, the table and the empty-state message. The supplied project brief did not include numbered requirements, so these Module 10 IDs are local traceability IDs until they are matched to the collaborative SRS. The working features are implemented. Actual team review and the shared SRS update remain in progress.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ACTION: Use the browser for this slide. First save course DEMO101, student DEMO001, date 2026-10-20 and status Present. SAY: After saving, the application opens the matching history and shows the saved record. ACTION: Return to the form, use exactly the same course, student and date, choose Absent - excused and save. SAY: This corrects the existing mark. It does not add another record for the same student, course and date. ACTION: Add DEMO002 for the same course/date as Absent - unexcused. Open history and filter by course DEMO101 and student DEMO001. SAY: The history view shows only records that match the selected filters. ACTION: Change student to MISSING to show the empty state, then set From to 2026-10-21 and To to 2026-10-20. SAY: An invalid date range produces a clear validation message. Gera will now explain how saving and validation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sends a request to the shared C3L application. The module loader discovers index.js and mounts our router under /10-attendance. We did not change the shared router. Our router validates submitted data, calls AttendanceStore and returns HTML or JSON. The form and history views are separate JavaScript files, so the two interface tasks are small and independent. Shared layout and error-message helpers stay in pageLayout.js. My assigned backend area is recording, correcting and validating attendance. Nasir's area covers reading and filtering the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Bun's built-in SQLite support. SQLite stores our attendance data in a local file, so we do not need a separate database server for this prototype. The attendance table stores an ID, course ID, student ID, calendar date, status, notes and update time. The unique combination is course, student and date. The save query inserts a record or updates status and notes when that combination already exists. The AttendanceStore class owns database access. Its main methods are save, list and close. There is one table at this stage. We have not invented relationships to other modules because shared user and course contracts are still pending. ACTION: Point to the unique key and AttendanceStore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happens on the server as well as in the browser. IDs cannot be blank, the date must exist on the calendar and the status must be one of our three allowed values. Notes are optional and limited to 300 characters. SQL values are passed as parameters, and user text is escaped before it is displayed in HTML. A storage failure produces a readable error rather than a successful save message. Unit and storage tests cover invalid values, correction without duplication, filtering and persistence after reopening the database. Nasir will show the API and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assigned technical area is reading and filtering attendance, API verification and regression testing. The history page uses the same stored records as the JSON API. Course and student filters match exact IDs. Both date limits are inclusive, and records are sorted newest date first. The JSON API supports GET for reading and POST for saving. The normal JSON success response is 200. Invalid fields return 422 and a storage failure returns 503. The HTML form uses a 303 redirect after saving so the browser opens the history page. I also coordinate requirement traceability and the update to the collaborative SRS.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ACTION: Open the repository, then the Sprint 1 milestone. Show issues 4 and 9 assigned to Arda and Jaspreet and the named technical responsibilities for Gera and Nasir. SAY: The technical account assignments for Gera and Nasir are deferred until those accounts are supplied. ACTION: Open the feature branch commit history and PR 7. SAY: The commits record the prepared implementation. We are not presenting them as separate personal contributions from every member. The pull request targets our own fork's main branch and requests a real teammate review. ACTION: Open the CI checks or saved regression output. SAY: The prepared candidate passed 25 module tests and all 81 repository tests. The sanity check also loaded all 12 modules. The shared SRS update remains pending because its link has not yet been supplied. Once it is available, the local requirement IDs must be mapped into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Arda: We have prepared the two required submission forms, the design HTML package and regression evidence. Before final hand-in, we still need the actual team review, shared SRS update and final verification. For Sprint 2, the proposal is to agree user and course integration and refine participation tracking. Reports and statistics remain in the backlog. Our current version is a local prototype using fictional IDs. Thank you. We are ready for questions. QUESTION ROUTING: Arda answers scope, form UI and submission details. Jaspreet answers history UI and demo steps. Gera answers validation, SQLite and corrections. Nasir answers filters, API, tests and GitHub/SRS tracking. Do not mark pending collaboration activities complete until they occur.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374fee829844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f449676f6a45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6b804f401e41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96a14e87914f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7505c6441d41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41beb8e35040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31BA87-67AB-4651-928F-B3E8982791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FAE311-57A4-4C52-8190-785FF7F775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B0C344-8B44-4183-BF7B-43C64EAAE37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A6C2AD-0DFA-47F1-BFEB-9DA5A99B9C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E9D907-6C14-41C9-8E7B-5F42EF7334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363D55-7EB8-47F4-9223-692AEA19D3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D063D7-FEA7-4BCF-9EBF-059A85066B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C8929C-13E7-439D-8F9C-A55685D66A1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7FDF62-CA57-4064-B028-2F22C7FD6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95ACE3-CF5A-4AA1-B4DE-F39297E823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b084d3ffbf4d89" /><Relationship Type="http://schemas.openxmlformats.org/officeDocument/2006/relationships/slideLayout" Target="/ppt/slideLayouts/slideLayout1.xml" Id="Rc576f560e3ae4f79" /><Relationship Type="http://schemas.openxmlformats.org/officeDocument/2006/relationships/slideLayout" Target="/ppt/slideLayouts/slideLayout2.xml" Id="R2402e37e068a43f1" /><Relationship Type="http://schemas.openxmlformats.org/officeDocument/2006/relationships/slideLayout" Target="/ppt/slideLayouts/slideLayout3.xml" Id="R69e002083e734fa2" /><Relationship Type="http://schemas.openxmlformats.org/officeDocument/2006/relationships/slideLayout" Target="/ppt/slideLayouts/slideLayout4.xml" Id="R8ad178a258534554" /><Relationship Type="http://schemas.openxmlformats.org/officeDocument/2006/relationships/slideLayout" Target="/ppt/slideLayouts/slideLayout5.xml" Id="Ra29c8c28eff64379" /><Relationship Type="http://schemas.openxmlformats.org/officeDocument/2006/relationships/slideLayout" Target="/ppt/slideLayouts/slideLayout6.xml" Id="R67f8b980bd9340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76f560e3ae4f79"/>
    <p:sldLayoutId xmlns:r="http://schemas.openxmlformats.org/officeDocument/2006/relationships" id="2147483650" r:id="R2402e37e068a43f1"/>
    <p:sldLayoutId xmlns:r="http://schemas.openxmlformats.org/officeDocument/2006/relationships" id="2147483651" r:id="R69e002083e734fa2"/>
    <p:sldLayoutId xmlns:r="http://schemas.openxmlformats.org/officeDocument/2006/relationships" id="2147483652" r:id="R8ad178a258534554"/>
    <p:sldLayoutId xmlns:r="http://schemas.openxmlformats.org/officeDocument/2006/relationships" id="2147483653" r:id="Ra29c8c28eff64379"/>
    <p:sldLayoutId xmlns:r="http://schemas.openxmlformats.org/officeDocument/2006/relationships" id="2147483654" r:id="R67f8b980bd9340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3430130f5f4001" /><Relationship Type="http://schemas.openxmlformats.org/officeDocument/2006/relationships/notesSlide" Target="/ppt/notesSlides/notesSlide1.xml" Id="R9eb0aa0e95264d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2654bb093c437b" /><Relationship Type="http://schemas.openxmlformats.org/officeDocument/2006/relationships/notesSlide" Target="/ppt/notesSlides/notesSlide2.xml" Id="R72ca4fdb04a949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1a77d2675884a42" /><Relationship Type="http://schemas.openxmlformats.org/officeDocument/2006/relationships/notesSlide" Target="/ppt/notesSlides/notesSlide3.xml" Id="Rd32a8526db924a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9b1bb8c852424a" /><Relationship Type="http://schemas.openxmlformats.org/officeDocument/2006/relationships/notesSlide" Target="/ppt/notesSlides/notesSlide4.xml" Id="R3775e8d7daa84c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d8b094ba3142ae" /><Relationship Type="http://schemas.openxmlformats.org/officeDocument/2006/relationships/notesSlide" Target="/ppt/notesSlides/notesSlide5.xml" Id="R79a208389f244a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5a9fa8a91f4a07" /><Relationship Type="http://schemas.openxmlformats.org/officeDocument/2006/relationships/notesSlide" Target="/ppt/notesSlides/notesSlide6.xml" Id="Ra59c762e0f874b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f250ea165d14dbc" /><Relationship Type="http://schemas.openxmlformats.org/officeDocument/2006/relationships/notesSlide" Target="/ppt/notesSlides/notesSlide7.xml" Id="Re90bfdb692014f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e9bd9ef35447fc" /><Relationship Type="http://schemas.openxmlformats.org/officeDocument/2006/relationships/notesSlide" Target="/ppt/notesSlides/notesSlide8.xml" Id="R8aad5aa3723545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cbc20fdcc844b8" /><Relationship Type="http://schemas.openxmlformats.org/officeDocument/2006/relationships/notesSlide" Target="/ppt/notesSlides/notesSlide9.xml" Id="R64f51c5a6ada4e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8e8e4fa87b4f89" /><Relationship Type="http://schemas.openxmlformats.org/officeDocument/2006/relationships/notesSlide" Target="/ppt/notesSlides/notesSlide10.xml" Id="R0898064be1804a4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80D2A1-957B-4DE6-8D4B-D320A7EC387C}"/>
              </a:ext>
            </a:extLst>
          </p:cNvPr>
          <p:cNvSpPr>
            <a:spLocks xmlns:a="http://schemas.openxmlformats.org/drawingml/2006/main" noGrp="1"/>
          </p:cNvSpPr>
          <p:nvPr/>
        </p:nvSpPr>
        <p:spPr>
          <a:xfrm xmlns:a="http://schemas.openxmlformats.org/drawingml/2006/main">
            <a:off x="609600" y="457200"/>
            <a:ext cx="1095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163047"/>
                </a:solidFill>
                <a:latin typeface="Arial"/>
                <a:ea typeface="Arial"/>
                <a:cs typeface="Arial"/>
              </a:defRPr>
            </a:defPPr>
          </a:lstStyle>
          <a:p xmlns:a="http://schemas.openxmlformats.org/drawingml/2006/main">
            <a:pPr>
              <a:defRPr sz="4350" b="1">
                <a:solidFill>
                  <a:srgbClr val="163047"/>
                </a:solidFill>
              </a:defRPr>
            </a:pPr>
            <a:r>
              <a:rPr sz="4350" b="1">
                <a:solidFill>
                  <a:srgbClr val="163047"/>
                </a:solidFill>
                <a:latin typeface="Arial"/>
                <a:ea typeface="Arial"/>
                <a:cs typeface="Arial"/>
              </a:rPr>
              <a:t>Attendance &amp; Participation Tracking</a:t>
            </a:r>
          </a:p>
        </p:txBody>
      </p:sp>
      <p:sp>
        <p:nvSpPr>
          <p:cNvPr id="3" name="">
            <a:extLst xmlns:a="http://schemas.openxmlformats.org/drawingml/2006/main">
              <a:ext uri="{FF2B5EF4-FFF2-40B4-BE49-F238E27FC236}">
                <a16:creationId xmlns:a16="http://schemas.microsoft.com/office/drawing/2014/main" id="{FB66E9BB-9E56-40F9-A3CE-C0BB675D710D}"/>
              </a:ext>
            </a:extLst>
          </p:cNvPr>
          <p:cNvSpPr>
            <a:spLocks xmlns:a="http://schemas.openxmlformats.org/drawingml/2006/main" noGrp="1"/>
          </p:cNvSpPr>
          <p:nvPr/>
        </p:nvSpPr>
        <p:spPr>
          <a:xfrm xmlns:a="http://schemas.openxmlformats.org/drawingml/2006/main">
            <a:off x="647700" y="21907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6F70"/>
                </a:solidFill>
                <a:latin typeface="Arial"/>
                <a:ea typeface="Arial"/>
                <a:cs typeface="Arial"/>
              </a:defRPr>
            </a:defPPr>
          </a:lstStyle>
          <a:p xmlns:a="http://schemas.openxmlformats.org/drawingml/2006/main">
            <a:pPr>
              <a:defRPr sz="2550" b="1">
                <a:solidFill>
                  <a:srgbClr val="006F70"/>
                </a:solidFill>
              </a:defRPr>
            </a:pPr>
            <a:r>
              <a:rPr sz="2550" b="1">
                <a:solidFill>
                  <a:srgbClr val="006F70"/>
                </a:solidFill>
                <a:latin typeface="Arial"/>
                <a:ea typeface="Arial"/>
                <a:cs typeface="Arial"/>
              </a:rPr>
              <a:t>C3L Module 10</a:t>
            </a:r>
          </a:p>
        </p:txBody>
      </p:sp>
      <p:sp>
        <p:nvSpPr>
          <p:cNvPr id="4" name="">
            <a:extLst xmlns:a="http://schemas.openxmlformats.org/drawingml/2006/main">
              <a:ext uri="{FF2B5EF4-FFF2-40B4-BE49-F238E27FC236}">
                <a16:creationId xmlns:a16="http://schemas.microsoft.com/office/drawing/2014/main" id="{325BF18B-0972-4878-995F-1CE0D88236E1}"/>
              </a:ext>
            </a:extLst>
          </p:cNvPr>
          <p:cNvSpPr>
            <a:spLocks xmlns:a="http://schemas.openxmlformats.org/drawingml/2006/main" noGrp="1"/>
          </p:cNvSpPr>
          <p:nvPr/>
        </p:nvSpPr>
        <p:spPr>
          <a:xfrm xmlns:a="http://schemas.openxmlformats.org/drawingml/2006/main">
            <a:off x="647700" y="28003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63047"/>
                </a:solidFill>
                <a:latin typeface="Arial"/>
                <a:ea typeface="Arial"/>
                <a:cs typeface="Arial"/>
              </a:defRPr>
            </a:defPPr>
          </a:lstStyle>
          <a:p xmlns:a="http://schemas.openxmlformats.org/drawingml/2006/main">
            <a:pPr>
              <a:defRPr sz="2550" b="0">
                <a:solidFill>
                  <a:srgbClr val="163047"/>
                </a:solidFill>
              </a:defRPr>
            </a:pPr>
            <a:r>
              <a:rPr sz="2550" b="0">
                <a:solidFill>
                  <a:srgbClr val="163047"/>
                </a:solidFill>
                <a:latin typeface="Arial"/>
                <a:ea typeface="Arial"/>
                <a:cs typeface="Arial"/>
              </a:rPr>
              <a:t>Sprint 1 progress presentation</a:t>
            </a:r>
          </a:p>
        </p:txBody>
      </p:sp>
      <p:sp>
        <p:nvSpPr>
          <p:cNvPr id="5" name="">
            <a:extLst xmlns:a="http://schemas.openxmlformats.org/drawingml/2006/main">
              <a:ext uri="{FF2B5EF4-FFF2-40B4-BE49-F238E27FC236}">
                <a16:creationId xmlns:a16="http://schemas.microsoft.com/office/drawing/2014/main" id="{4CCC1A1A-641F-422F-8C1C-0435C164CFA7}"/>
              </a:ext>
            </a:extLst>
          </p:cNvPr>
          <p:cNvSpPr>
            <a:spLocks xmlns:a="http://schemas.openxmlformats.org/drawingml/2006/main" noGrp="1"/>
          </p:cNvSpPr>
          <p:nvPr/>
        </p:nvSpPr>
        <p:spPr>
          <a:xfrm xmlns:a="http://schemas.openxmlformats.org/drawingml/2006/main">
            <a:off x="647700" y="34099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047"/>
                </a:solidFill>
                <a:latin typeface="Arial"/>
                <a:ea typeface="Arial"/>
                <a:cs typeface="Arial"/>
              </a:defRPr>
            </a:defPPr>
          </a:lstStyle>
          <a:p xmlns:a="http://schemas.openxmlformats.org/drawingml/2006/main">
            <a:pPr>
              <a:defRPr sz="2100" b="0">
                <a:solidFill>
                  <a:srgbClr val="163047"/>
                </a:solidFill>
              </a:defRPr>
            </a:pPr>
            <a:r>
              <a:rPr sz="2100" b="0">
                <a:solidFill>
                  <a:srgbClr val="163047"/>
                </a:solidFill>
                <a:latin typeface="Arial"/>
                <a:ea typeface="Arial"/>
                <a:cs typeface="Arial"/>
              </a:rPr>
              <a:t>Tuesday, October 20, 2026</a:t>
            </a:r>
          </a:p>
        </p:txBody>
      </p:sp>
      <p:sp>
        <p:nvSpPr>
          <p:cNvPr id="6" name="">
            <a:extLst xmlns:a="http://schemas.openxmlformats.org/drawingml/2006/main">
              <a:ext uri="{FF2B5EF4-FFF2-40B4-BE49-F238E27FC236}">
                <a16:creationId xmlns:a16="http://schemas.microsoft.com/office/drawing/2014/main" id="{C42A2BC3-FC34-4BBC-BF2E-6CE89F082FDC}"/>
              </a:ext>
            </a:extLst>
          </p:cNvPr>
          <p:cNvSpPr>
            <a:spLocks xmlns:a="http://schemas.openxmlformats.org/drawingml/2006/main" noGrp="1"/>
          </p:cNvSpPr>
          <p:nvPr/>
        </p:nvSpPr>
        <p:spPr>
          <a:xfrm xmlns:a="http://schemas.openxmlformats.org/drawingml/2006/main">
            <a:off x="647700" y="40195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047"/>
                </a:solidFill>
                <a:latin typeface="Arial"/>
                <a:ea typeface="Arial"/>
                <a:cs typeface="Arial"/>
              </a:defRPr>
            </a:defPPr>
          </a:lstStyle>
          <a:p xmlns:a="http://schemas.openxmlformats.org/drawingml/2006/main">
            <a:pPr>
              <a:defRPr sz="2100" b="0">
                <a:solidFill>
                  <a:srgbClr val="163047"/>
                </a:solidFill>
              </a:defRPr>
            </a:pPr>
            <a:r>
              <a:rPr sz="2100" b="0">
                <a:solidFill>
                  <a:srgbClr val="163047"/>
                </a:solidFill>
                <a:latin typeface="Arial"/>
                <a:ea typeface="Arial"/>
                <a:cs typeface="Arial"/>
              </a:rPr>
              <a:t>Arda Efe Cetintav, Jaspreet Gakhal</a:t>
            </a:r>
          </a:p>
        </p:txBody>
      </p:sp>
      <p:sp>
        <p:nvSpPr>
          <p:cNvPr id="7" name="">
            <a:extLst xmlns:a="http://schemas.openxmlformats.org/drawingml/2006/main">
              <a:ext uri="{FF2B5EF4-FFF2-40B4-BE49-F238E27FC236}">
                <a16:creationId xmlns:a16="http://schemas.microsoft.com/office/drawing/2014/main" id="{68652EB2-76FE-4C6C-AC4A-2305B9A81AE6}"/>
              </a:ext>
            </a:extLst>
          </p:cNvPr>
          <p:cNvSpPr>
            <a:spLocks xmlns:a="http://schemas.openxmlformats.org/drawingml/2006/main" noGrp="1"/>
          </p:cNvSpPr>
          <p:nvPr/>
        </p:nvSpPr>
        <p:spPr>
          <a:xfrm xmlns:a="http://schemas.openxmlformats.org/drawingml/2006/main">
            <a:off x="647700" y="4629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047"/>
                </a:solidFill>
                <a:latin typeface="Arial"/>
                <a:ea typeface="Arial"/>
                <a:cs typeface="Arial"/>
              </a:defRPr>
            </a:defPPr>
          </a:lstStyle>
          <a:p xmlns:a="http://schemas.openxmlformats.org/drawingml/2006/main">
            <a:pPr>
              <a:defRPr sz="2100" b="0">
                <a:solidFill>
                  <a:srgbClr val="163047"/>
                </a:solidFill>
              </a:defRPr>
            </a:pPr>
            <a:r>
              <a:rPr sz="2100" b="0">
                <a:solidFill>
                  <a:srgbClr val="163047"/>
                </a:solidFill>
                <a:latin typeface="Arial"/>
                <a:ea typeface="Arial"/>
                <a:cs typeface="Arial"/>
              </a:rPr>
              <a:t>Gera Paoli, Nasir Ishaq Sani</a:t>
            </a:r>
          </a:p>
        </p:txBody>
      </p:sp>
      <p:sp>
        <p:nvSpPr>
          <p:cNvPr id="8" name="">
            <a:extLst xmlns:a="http://schemas.openxmlformats.org/drawingml/2006/main">
              <a:ext uri="{FF2B5EF4-FFF2-40B4-BE49-F238E27FC236}">
                <a16:creationId xmlns:a16="http://schemas.microsoft.com/office/drawing/2014/main" id="{624DC551-6CAB-47B9-A094-9C4C94D91FD1}"/>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Arda   0:00-0:45</a:t>
            </a:r>
          </a:p>
        </p:txBody>
      </p:sp>
    </p:spTree>
    <p:extLst>
      <p:ext uri="{BB962C8B-B14F-4D97-AF65-F5344CB8AC3E}">
        <p14:creationId xmlns:p14="http://schemas.microsoft.com/office/powerpoint/2010/main" val="21296675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9204780-05D6-400F-B284-30BC50C1D48B}"/>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Team responsibilities</a:t>
            </a:r>
          </a:p>
        </p:txBody>
      </p:sp>
      <p:graphicFrame>
        <p:nvGraphicFramePr>
          <p:cNvPr id="3" name="">
            <a:extLst xmlns:a="http://schemas.openxmlformats.org/drawingml/2006/main">
              <a:ext uri="{FF2B5EF4-FFF2-40B4-BE49-F238E27FC236}">
                <a16:creationId xmlns:a16="http://schemas.microsoft.com/office/drawing/2014/main" id="{7FC8444F-EA33-49FB-98DB-DB1B33F83779}"/>
              </a:ext>
            </a:extLst>
          </p:cNvPr>
          <p:cNvGraphicFramePr/>
          <p:nvPr/>
        </p:nvGraphicFramePr>
        <p:xfrm>
          <a:off xmlns:a="http://schemas.openxmlformats.org/drawingml/2006/main" x="609600" y="1524000"/>
          <a:ext xmlns:a="http://schemas.openxmlformats.org/drawingml/2006/main" cx="10972800" cy="3619500"/>
        </p:xfrm>
        <a:graphic xmlns:a="http://schemas.openxmlformats.org/drawingml/2006/main">
          <a:graphicData uri="http://schemas.openxmlformats.org/drawingml/2006/table">
            <a:tbl>
              <a:tblPr/>
              <a:tblGrid>
                <a:gridCol w="1952625"/>
                <a:gridCol w="5095875"/>
                <a:gridCol w="3924300"/>
              </a:tblGrid>
              <a:tr h="723900">
                <a:tc>
                  <a:txBody>
                    <a:bodyPr/>
                    <a:lstStyle/>
                    <a:p>
                      <a:r>
                        <a:rPr sz="1725" b="1">
                          <a:solidFill>
                            <a:srgbClr val="163047"/>
                          </a:solidFill>
                          <a:latin typeface="Arial"/>
                          <a:ea typeface="Arial"/>
                          <a:cs typeface="Arial"/>
                        </a:rPr>
                        <a:t>Member</a:t>
                      </a:r>
                    </a:p>
                  </a:txBody>
                  <a:tcPr marL="91440" marR="91440" marT="45720" marB="45720">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EEF5F5"/>
                    </a:solidFill>
                  </a:tcPr>
                </a:tc>
                <a:tc>
                  <a:txBody>
                    <a:bodyPr/>
                    <a:lstStyle/>
                    <a:p>
                      <a:r>
                        <a:rPr sz="1725" b="1">
                          <a:solidFill>
                            <a:srgbClr val="163047"/>
                          </a:solidFill>
                          <a:latin typeface="Arial"/>
                          <a:ea typeface="Arial"/>
                          <a:cs typeface="Arial"/>
                        </a:rPr>
                        <a:t>Code responsibility</a:t>
                      </a:r>
                    </a:p>
                  </a:txBody>
                  <a:tcPr marL="91440" marR="91440" marT="45720" marB="45720">
                    <a:lnR w="9525">
                      <a:solidFill>
                        <a:srgbClr val="CCD9DE"/>
                      </a:solidFill>
                      <a:prstDash val="solid"/>
                    </a:lnR>
                    <a:lnT w="9525">
                      <a:solidFill>
                        <a:srgbClr val="CCD9DE"/>
                      </a:solidFill>
                      <a:prstDash val="solid"/>
                    </a:lnT>
                    <a:lnB w="9525">
                      <a:solidFill>
                        <a:srgbClr val="CCD9DE"/>
                      </a:solidFill>
                      <a:prstDash val="solid"/>
                    </a:lnB>
                    <a:solidFill>
                      <a:srgbClr val="EEF5F5"/>
                    </a:solidFill>
                  </a:tcPr>
                </a:tc>
                <a:tc>
                  <a:txBody>
                    <a:bodyPr/>
                    <a:lstStyle/>
                    <a:p>
                      <a:r>
                        <a:rPr sz="1725" b="1">
                          <a:solidFill>
                            <a:srgbClr val="163047"/>
                          </a:solidFill>
                          <a:latin typeface="Arial"/>
                          <a:ea typeface="Arial"/>
                          <a:cs typeface="Arial"/>
                        </a:rPr>
                        <a:t>Presentation</a:t>
                      </a:r>
                    </a:p>
                  </a:txBody>
                  <a:tcPr marL="91440" marR="91440" marT="45720" marB="45720">
                    <a:lnR w="9525">
                      <a:solidFill>
                        <a:srgbClr val="CCD9DE"/>
                      </a:solidFill>
                      <a:prstDash val="solid"/>
                    </a:lnR>
                    <a:lnT w="9525">
                      <a:solidFill>
                        <a:srgbClr val="CCD9DE"/>
                      </a:solidFill>
                      <a:prstDash val="solid"/>
                    </a:lnT>
                    <a:lnB w="9525">
                      <a:solidFill>
                        <a:srgbClr val="CCD9DE"/>
                      </a:solidFill>
                      <a:prstDash val="solid"/>
                    </a:lnB>
                    <a:solidFill>
                      <a:srgbClr val="EEF5F5"/>
                    </a:solidFill>
                  </a:tcPr>
                </a:tc>
              </a:tr>
              <a:tr h="723900">
                <a:tc>
                  <a:txBody>
                    <a:bodyPr/>
                    <a:lstStyle/>
                    <a:p>
                      <a:r>
                        <a:rPr sz="1725" b="0">
                          <a:solidFill>
                            <a:srgbClr val="163047"/>
                          </a:solidFill>
                          <a:latin typeface="Arial"/>
                          <a:ea typeface="Arial"/>
                          <a:cs typeface="Arial"/>
                        </a:rPr>
                        <a:t>Arda</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Form UI and release checks</a:t>
                      </a:r>
                    </a:p>
                  </a:txBody>
                  <a:tcPr marL="91440" marR="91440" marT="45720" marB="45720">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Intro and form</a:t>
                      </a:r>
                    </a:p>
                  </a:txBody>
                  <a:tcPr marL="91440" marR="91440" marT="45720" marB="45720">
                    <a:lnR w="9525">
                      <a:solidFill>
                        <a:srgbClr val="CCD9DE"/>
                      </a:solidFill>
                      <a:prstDash val="solid"/>
                    </a:lnR>
                    <a:lnB w="9525">
                      <a:solidFill>
                        <a:srgbClr val="CCD9DE"/>
                      </a:solidFill>
                      <a:prstDash val="solid"/>
                    </a:lnB>
                    <a:solidFill>
                      <a:srgbClr val="FFFFFF"/>
                    </a:solidFill>
                  </a:tcPr>
                </a:tc>
              </a:tr>
              <a:tr h="723900">
                <a:tc>
                  <a:txBody>
                    <a:bodyPr/>
                    <a:lstStyle/>
                    <a:p>
                      <a:r>
                        <a:rPr sz="1725" b="0">
                          <a:solidFill>
                            <a:srgbClr val="163047"/>
                          </a:solidFill>
                          <a:latin typeface="Arial"/>
                          <a:ea typeface="Arial"/>
                          <a:cs typeface="Arial"/>
                        </a:rPr>
                        <a:t>Jaspreet</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History UI and demo checks</a:t>
                      </a:r>
                    </a:p>
                  </a:txBody>
                  <a:tcPr marL="91440" marR="91440" marT="45720" marB="45720">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Scope and live demo</a:t>
                      </a:r>
                    </a:p>
                  </a:txBody>
                  <a:tcPr marL="91440" marR="91440" marT="45720" marB="45720">
                    <a:lnR w="9525">
                      <a:solidFill>
                        <a:srgbClr val="CCD9DE"/>
                      </a:solidFill>
                      <a:prstDash val="solid"/>
                    </a:lnR>
                    <a:lnB w="9525">
                      <a:solidFill>
                        <a:srgbClr val="CCD9DE"/>
                      </a:solidFill>
                      <a:prstDash val="solid"/>
                    </a:lnB>
                    <a:solidFill>
                      <a:srgbClr val="FFFFFF"/>
                    </a:solidFill>
                  </a:tcPr>
                </a:tc>
              </a:tr>
              <a:tr h="723900">
                <a:tc>
                  <a:txBody>
                    <a:bodyPr/>
                    <a:lstStyle/>
                    <a:p>
                      <a:r>
                        <a:rPr sz="1725" b="0">
                          <a:solidFill>
                            <a:srgbClr val="163047"/>
                          </a:solidFill>
                          <a:latin typeface="Arial"/>
                          <a:ea typeface="Arial"/>
                          <a:cs typeface="Arial"/>
                        </a:rPr>
                        <a:t>Gera</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Save, validation and SQLite</a:t>
                      </a:r>
                    </a:p>
                  </a:txBody>
                  <a:tcPr marL="91440" marR="91440" marT="45720" marB="45720">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Architecture and database</a:t>
                      </a:r>
                    </a:p>
                  </a:txBody>
                  <a:tcPr marL="91440" marR="91440" marT="45720" marB="45720">
                    <a:lnR w="9525">
                      <a:solidFill>
                        <a:srgbClr val="CCD9DE"/>
                      </a:solidFill>
                      <a:prstDash val="solid"/>
                    </a:lnR>
                    <a:lnB w="9525">
                      <a:solidFill>
                        <a:srgbClr val="CCD9DE"/>
                      </a:solidFill>
                      <a:prstDash val="solid"/>
                    </a:lnB>
                    <a:solidFill>
                      <a:srgbClr val="FFFFFF"/>
                    </a:solidFill>
                  </a:tcPr>
                </a:tc>
              </a:tr>
              <a:tr h="723900">
                <a:tc>
                  <a:txBody>
                    <a:bodyPr/>
                    <a:lstStyle/>
                    <a:p>
                      <a:r>
                        <a:rPr sz="1725" b="0">
                          <a:solidFill>
                            <a:srgbClr val="163047"/>
                          </a:solidFill>
                          <a:latin typeface="Arial"/>
                          <a:ea typeface="Arial"/>
                          <a:cs typeface="Arial"/>
                        </a:rPr>
                        <a:t>Nasir</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Queries, API and regression</a:t>
                      </a:r>
                    </a:p>
                  </a:txBody>
                  <a:tcPr marL="91440" marR="91440" marT="45720" marB="45720">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API and GitHub evidence</a:t>
                      </a:r>
                    </a:p>
                  </a:txBody>
                  <a:tcPr marL="91440" marR="91440" marT="45720" marB="45720">
                    <a:lnR w="9525">
                      <a:solidFill>
                        <a:srgbClr val="CCD9DE"/>
                      </a:solidFill>
                      <a:prstDash val="solid"/>
                    </a:lnR>
                    <a:lnB w="9525">
                      <a:solidFill>
                        <a:srgbClr val="CCD9DE"/>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2CB60F8-22C3-4BCF-837E-7C563470BADA}"/>
              </a:ext>
            </a:extLst>
          </p:cNvPr>
          <p:cNvSpPr>
            <a:spLocks xmlns:a="http://schemas.openxmlformats.org/drawingml/2006/main" noGrp="1"/>
          </p:cNvSpPr>
          <p:nvPr/>
        </p:nvSpPr>
        <p:spPr>
          <a:xfrm xmlns:a="http://schemas.openxmlformats.org/drawingml/2006/main">
            <a:off x="628650" y="5429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C6070"/>
                </a:solidFill>
                <a:latin typeface="Arial"/>
                <a:ea typeface="Arial"/>
                <a:cs typeface="Arial"/>
              </a:defRPr>
            </a:defPPr>
          </a:lstStyle>
          <a:p xmlns:a="http://schemas.openxmlformats.org/drawingml/2006/main">
            <a:pPr>
              <a:defRPr sz="1875" b="0">
                <a:solidFill>
                  <a:srgbClr val="4C6070"/>
                </a:solidFill>
              </a:defRPr>
            </a:pPr>
            <a:r>
              <a:rPr sz="1875" b="0">
                <a:solidFill>
                  <a:srgbClr val="4C6070"/>
                </a:solidFill>
                <a:latin typeface="Arial"/>
                <a:ea typeface="Arial"/>
                <a:cs typeface="Arial"/>
              </a:rPr>
              <a:t>Assigned areas. Each member still verifies their section and records actual work.</a:t>
            </a:r>
          </a:p>
        </p:txBody>
      </p:sp>
      <p:sp>
        <p:nvSpPr>
          <p:cNvPr id="5" name="">
            <a:extLst xmlns:a="http://schemas.openxmlformats.org/drawingml/2006/main">
              <a:ext uri="{FF2B5EF4-FFF2-40B4-BE49-F238E27FC236}">
                <a16:creationId xmlns:a16="http://schemas.microsoft.com/office/drawing/2014/main" id="{4FA5E332-DF2F-4244-9213-444F65BE78D6}"/>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Arda   0:45-2:15</a:t>
            </a:r>
          </a:p>
        </p:txBody>
      </p:sp>
    </p:spTree>
    <p:extLst>
      <p:ext uri="{BB962C8B-B14F-4D97-AF65-F5344CB8AC3E}">
        <p14:creationId xmlns:p14="http://schemas.microsoft.com/office/powerpoint/2010/main" val="8080497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80E3FA0-80C8-44B6-9AD6-279A54166DBF}"/>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Sprint 1 scope and progress</a:t>
            </a:r>
          </a:p>
        </p:txBody>
      </p:sp>
      <p:sp>
        <p:nvSpPr>
          <p:cNvPr id="3" name="">
            <a:extLst xmlns:a="http://schemas.openxmlformats.org/drawingml/2006/main">
              <a:ext uri="{FF2B5EF4-FFF2-40B4-BE49-F238E27FC236}">
                <a16:creationId xmlns:a16="http://schemas.microsoft.com/office/drawing/2014/main" id="{DA22443D-CC73-49F0-88BE-6330EB514493}"/>
              </a:ext>
            </a:extLst>
          </p:cNvPr>
          <p:cNvSpPr>
            <a:spLocks xmlns:a="http://schemas.openxmlformats.org/drawingml/2006/main" noGrp="1"/>
          </p:cNvSpPr>
          <p:nvPr/>
        </p:nvSpPr>
        <p:spPr>
          <a:xfrm xmlns:a="http://schemas.openxmlformats.org/drawingml/2006/main">
            <a:off x="666750" y="15716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047"/>
                </a:solidFill>
                <a:latin typeface="Arial"/>
                <a:ea typeface="Arial"/>
                <a:cs typeface="Arial"/>
              </a:defRPr>
            </a:defPPr>
          </a:lstStyle>
          <a:p xmlns:a="http://schemas.openxmlformats.org/drawingml/2006/main">
            <a:pPr>
              <a:defRPr sz="2175" b="1">
                <a:solidFill>
                  <a:srgbClr val="163047"/>
                </a:solidFill>
              </a:defRPr>
            </a:pPr>
            <a:r>
              <a:rPr sz="2175" b="1">
                <a:solidFill>
                  <a:srgbClr val="163047"/>
                </a:solidFill>
                <a:latin typeface="Arial"/>
                <a:ea typeface="Arial"/>
                <a:cs typeface="Arial"/>
              </a:rPr>
              <a:t>M10-FR-01: record and correct daily attendance</a:t>
            </a:r>
          </a:p>
        </p:txBody>
      </p:sp>
      <p:sp>
        <p:nvSpPr>
          <p:cNvPr id="4" name="">
            <a:extLst xmlns:a="http://schemas.openxmlformats.org/drawingml/2006/main">
              <a:ext uri="{FF2B5EF4-FFF2-40B4-BE49-F238E27FC236}">
                <a16:creationId xmlns:a16="http://schemas.microsoft.com/office/drawing/2014/main" id="{FB015E91-946B-4410-B0BF-70572B6CE0AB}"/>
              </a:ext>
            </a:extLst>
          </p:cNvPr>
          <p:cNvSpPr>
            <a:spLocks xmlns:a="http://schemas.openxmlformats.org/drawingml/2006/main" noGrp="1"/>
          </p:cNvSpPr>
          <p:nvPr/>
        </p:nvSpPr>
        <p:spPr>
          <a:xfrm xmlns:a="http://schemas.openxmlformats.org/drawingml/2006/main">
            <a:off x="666750" y="23526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M10-FR-02: view and filter attendance history</a:t>
            </a:r>
          </a:p>
        </p:txBody>
      </p:sp>
      <p:sp>
        <p:nvSpPr>
          <p:cNvPr id="5" name="">
            <a:extLst xmlns:a="http://schemas.openxmlformats.org/drawingml/2006/main">
              <a:ext uri="{FF2B5EF4-FFF2-40B4-BE49-F238E27FC236}">
                <a16:creationId xmlns:a16="http://schemas.microsoft.com/office/drawing/2014/main" id="{BCF5598E-394C-463D-AF9F-8EE284E694F5}"/>
              </a:ext>
            </a:extLst>
          </p:cNvPr>
          <p:cNvSpPr>
            <a:spLocks xmlns:a="http://schemas.openxmlformats.org/drawingml/2006/main" noGrp="1"/>
          </p:cNvSpPr>
          <p:nvPr/>
        </p:nvSpPr>
        <p:spPr>
          <a:xfrm xmlns:a="http://schemas.openxmlformats.org/drawingml/2006/main">
            <a:off x="666750" y="31337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M10-FR-03: distinguish excused and unexcused absences</a:t>
            </a:r>
          </a:p>
        </p:txBody>
      </p:sp>
      <p:sp>
        <p:nvSpPr>
          <p:cNvPr id="6" name="">
            <a:extLst xmlns:a="http://schemas.openxmlformats.org/drawingml/2006/main">
              <a:ext uri="{FF2B5EF4-FFF2-40B4-BE49-F238E27FC236}">
                <a16:creationId xmlns:a16="http://schemas.microsoft.com/office/drawing/2014/main" id="{38CF8278-AC68-40D8-9D14-0013B0CC934B}"/>
              </a:ext>
            </a:extLst>
          </p:cNvPr>
          <p:cNvSpPr>
            <a:spLocks xmlns:a="http://schemas.openxmlformats.org/drawingml/2006/main" noGrp="1"/>
          </p:cNvSpPr>
          <p:nvPr/>
        </p:nvSpPr>
        <p:spPr>
          <a:xfrm xmlns:a="http://schemas.openxmlformats.org/drawingml/2006/main">
            <a:off x="666750" y="39147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Implemented locally. Team review and shared SRS update pending.</a:t>
            </a:r>
          </a:p>
        </p:txBody>
      </p:sp>
      <p:sp>
        <p:nvSpPr>
          <p:cNvPr id="7" name="">
            <a:extLst xmlns:a="http://schemas.openxmlformats.org/drawingml/2006/main">
              <a:ext uri="{FF2B5EF4-FFF2-40B4-BE49-F238E27FC236}">
                <a16:creationId xmlns:a16="http://schemas.microsoft.com/office/drawing/2014/main" id="{50E537D0-F858-401F-95E5-6A1A2FD1B9E8}"/>
              </a:ext>
            </a:extLst>
          </p:cNvPr>
          <p:cNvSpPr>
            <a:spLocks xmlns:a="http://schemas.openxmlformats.org/drawingml/2006/main" noGrp="1"/>
          </p:cNvSpPr>
          <p:nvPr/>
        </p:nvSpPr>
        <p:spPr>
          <a:xfrm xmlns:a="http://schemas.openxmlformats.org/drawingml/2006/main">
            <a:off x="666750" y="46958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Requirement IDs are provisional until matched to the class SRS.</a:t>
            </a:r>
          </a:p>
        </p:txBody>
      </p:sp>
      <p:sp>
        <p:nvSpPr>
          <p:cNvPr id="8" name="">
            <a:extLst xmlns:a="http://schemas.openxmlformats.org/drawingml/2006/main">
              <a:ext uri="{FF2B5EF4-FFF2-40B4-BE49-F238E27FC236}">
                <a16:creationId xmlns:a16="http://schemas.microsoft.com/office/drawing/2014/main" id="{FAE39DEF-7130-470B-9DAF-7596CD943F08}"/>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Jaspreet   2:15-3:15</a:t>
            </a:r>
          </a:p>
        </p:txBody>
      </p:sp>
    </p:spTree>
    <p:extLst>
      <p:ext uri="{BB962C8B-B14F-4D97-AF65-F5344CB8AC3E}">
        <p14:creationId xmlns:p14="http://schemas.microsoft.com/office/powerpoint/2010/main" val="10156469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90E6030-A383-4B19-AF13-A0099C353492}"/>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Working demonstration</a:t>
            </a:r>
          </a:p>
        </p:txBody>
      </p:sp>
      <p:sp>
        <p:nvSpPr>
          <p:cNvPr id="3" name="">
            <a:extLst xmlns:a="http://schemas.openxmlformats.org/drawingml/2006/main">
              <a:ext uri="{FF2B5EF4-FFF2-40B4-BE49-F238E27FC236}">
                <a16:creationId xmlns:a16="http://schemas.microsoft.com/office/drawing/2014/main" id="{0AE4F4BC-44BE-4097-8E90-F41A2224ED8B}"/>
              </a:ext>
            </a:extLst>
          </p:cNvPr>
          <p:cNvSpPr>
            <a:spLocks xmlns:a="http://schemas.openxmlformats.org/drawingml/2006/main" noGrp="1"/>
          </p:cNvSpPr>
          <p:nvPr/>
        </p:nvSpPr>
        <p:spPr>
          <a:xfrm xmlns:a="http://schemas.openxmlformats.org/drawingml/2006/main">
            <a:off x="666750" y="15716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047"/>
                </a:solidFill>
                <a:latin typeface="Arial"/>
                <a:ea typeface="Arial"/>
                <a:cs typeface="Arial"/>
              </a:defRPr>
            </a:defPPr>
          </a:lstStyle>
          <a:p xmlns:a="http://schemas.openxmlformats.org/drawingml/2006/main">
            <a:pPr>
              <a:defRPr sz="2175" b="1">
                <a:solidFill>
                  <a:srgbClr val="163047"/>
                </a:solidFill>
              </a:defRPr>
            </a:pPr>
            <a:r>
              <a:rPr sz="2175" b="1">
                <a:solidFill>
                  <a:srgbClr val="163047"/>
                </a:solidFill>
                <a:latin typeface="Arial"/>
                <a:ea typeface="Arial"/>
                <a:cs typeface="Arial"/>
              </a:rPr>
              <a:t>Save DEMO101 / DEMO001 / 2026-10-20 as Present</a:t>
            </a:r>
          </a:p>
        </p:txBody>
      </p:sp>
      <p:sp>
        <p:nvSpPr>
          <p:cNvPr id="4" name="">
            <a:extLst xmlns:a="http://schemas.openxmlformats.org/drawingml/2006/main">
              <a:ext uri="{FF2B5EF4-FFF2-40B4-BE49-F238E27FC236}">
                <a16:creationId xmlns:a16="http://schemas.microsoft.com/office/drawing/2014/main" id="{A874CBD3-DE6E-44D7-95CB-4BF374D5A76A}"/>
              </a:ext>
            </a:extLst>
          </p:cNvPr>
          <p:cNvSpPr>
            <a:spLocks xmlns:a="http://schemas.openxmlformats.org/drawingml/2006/main" noGrp="1"/>
          </p:cNvSpPr>
          <p:nvPr/>
        </p:nvSpPr>
        <p:spPr>
          <a:xfrm xmlns:a="http://schemas.openxmlformats.org/drawingml/2006/main">
            <a:off x="666750" y="23526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Save the same key as Absent - excused</a:t>
            </a:r>
          </a:p>
        </p:txBody>
      </p:sp>
      <p:sp>
        <p:nvSpPr>
          <p:cNvPr id="5" name="">
            <a:extLst xmlns:a="http://schemas.openxmlformats.org/drawingml/2006/main">
              <a:ext uri="{FF2B5EF4-FFF2-40B4-BE49-F238E27FC236}">
                <a16:creationId xmlns:a16="http://schemas.microsoft.com/office/drawing/2014/main" id="{D96E0C84-CFB4-4CC0-B040-A30F7444F963}"/>
              </a:ext>
            </a:extLst>
          </p:cNvPr>
          <p:cNvSpPr>
            <a:spLocks xmlns:a="http://schemas.openxmlformats.org/drawingml/2006/main" noGrp="1"/>
          </p:cNvSpPr>
          <p:nvPr/>
        </p:nvSpPr>
        <p:spPr>
          <a:xfrm xmlns:a="http://schemas.openxmlformats.org/drawingml/2006/main">
            <a:off x="666750" y="31337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Add DEMO002 as Absent - unexcused</a:t>
            </a:r>
          </a:p>
        </p:txBody>
      </p:sp>
      <p:sp>
        <p:nvSpPr>
          <p:cNvPr id="6" name="">
            <a:extLst xmlns:a="http://schemas.openxmlformats.org/drawingml/2006/main">
              <a:ext uri="{FF2B5EF4-FFF2-40B4-BE49-F238E27FC236}">
                <a16:creationId xmlns:a16="http://schemas.microsoft.com/office/drawing/2014/main" id="{FC14810C-54D7-480C-9882-770E0B5B7D07}"/>
              </a:ext>
            </a:extLst>
          </p:cNvPr>
          <p:cNvSpPr>
            <a:spLocks xmlns:a="http://schemas.openxmlformats.org/drawingml/2006/main" noGrp="1"/>
          </p:cNvSpPr>
          <p:nvPr/>
        </p:nvSpPr>
        <p:spPr>
          <a:xfrm xmlns:a="http://schemas.openxmlformats.org/drawingml/2006/main">
            <a:off x="666750" y="39147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Filter history by DEMO001</a:t>
            </a:r>
          </a:p>
        </p:txBody>
      </p:sp>
      <p:sp>
        <p:nvSpPr>
          <p:cNvPr id="7" name="">
            <a:extLst xmlns:a="http://schemas.openxmlformats.org/drawingml/2006/main">
              <a:ext uri="{FF2B5EF4-FFF2-40B4-BE49-F238E27FC236}">
                <a16:creationId xmlns:a16="http://schemas.microsoft.com/office/drawing/2014/main" id="{16A707BF-B1BC-4F30-952F-59E5FA15B6E2}"/>
              </a:ext>
            </a:extLst>
          </p:cNvPr>
          <p:cNvSpPr>
            <a:spLocks xmlns:a="http://schemas.openxmlformats.org/drawingml/2006/main" noGrp="1"/>
          </p:cNvSpPr>
          <p:nvPr/>
        </p:nvSpPr>
        <p:spPr>
          <a:xfrm xmlns:a="http://schemas.openxmlformats.org/drawingml/2006/main">
            <a:off x="666750" y="46958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Show the empty state and a reversed date range</a:t>
            </a:r>
          </a:p>
        </p:txBody>
      </p:sp>
      <p:sp>
        <p:nvSpPr>
          <p:cNvPr id="8" name="">
            <a:extLst xmlns:a="http://schemas.openxmlformats.org/drawingml/2006/main">
              <a:ext uri="{FF2B5EF4-FFF2-40B4-BE49-F238E27FC236}">
                <a16:creationId xmlns:a16="http://schemas.microsoft.com/office/drawing/2014/main" id="{9A089696-2770-4BDF-AA17-11481331B9F8}"/>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Jaspreet   3:15-5:00</a:t>
            </a:r>
          </a:p>
        </p:txBody>
      </p:sp>
    </p:spTree>
    <p:extLst>
      <p:ext uri="{BB962C8B-B14F-4D97-AF65-F5344CB8AC3E}">
        <p14:creationId xmlns:p14="http://schemas.microsoft.com/office/powerpoint/2010/main" val="18565951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31E7BB0-B12D-494A-BCA9-17A8E5BAACCC}"/>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Application architecture</a:t>
            </a:r>
          </a:p>
        </p:txBody>
      </p:sp>
      <p:sp>
        <p:nvSpPr>
          <p:cNvPr id="3" name="">
            <a:extLst xmlns:a="http://schemas.openxmlformats.org/drawingml/2006/main">
              <a:ext uri="{FF2B5EF4-FFF2-40B4-BE49-F238E27FC236}">
                <a16:creationId xmlns:a16="http://schemas.microsoft.com/office/drawing/2014/main" id="{F8548171-7F40-4716-9863-7D0893B8802F}"/>
              </a:ext>
            </a:extLst>
          </p:cNvPr>
          <p:cNvSpPr>
            <a:spLocks xmlns:a="http://schemas.openxmlformats.org/drawingml/2006/main" noGrp="1"/>
          </p:cNvSpPr>
          <p:nvPr/>
        </p:nvSpPr>
        <p:spPr>
          <a:xfrm xmlns:a="http://schemas.openxmlformats.org/drawingml/2006/main">
            <a:off x="609600" y="1905000"/>
            <a:ext cx="2362200" cy="1666875"/>
          </a:xfrm>
          <a:prstGeom xmlns:a="http://schemas.openxmlformats.org/drawingml/2006/main" prst="rect">
            <a:avLst/>
          </a:prstGeom>
          <a:solidFill xmlns:a="http://schemas.openxmlformats.org/drawingml/2006/main">
            <a:srgbClr val="EEF5F5"/>
          </a:solidFill>
          <a:ln xmlns:a="http://schemas.openxmlformats.org/drawingml/2006/main" w="9525">
            <a:solidFill>
              <a:srgbClr val="9BB4BD"/>
            </a:solidFill>
          </a:ln>
        </p:spPr>
      </p:sp>
      <p:sp>
        <p:nvSpPr>
          <p:cNvPr id="4" name="">
            <a:extLst xmlns:a="http://schemas.openxmlformats.org/drawingml/2006/main">
              <a:ext uri="{FF2B5EF4-FFF2-40B4-BE49-F238E27FC236}">
                <a16:creationId xmlns:a16="http://schemas.microsoft.com/office/drawing/2014/main" id="{97364CC2-07D7-4EEC-947A-B68F604AC5D1}"/>
              </a:ext>
            </a:extLst>
          </p:cNvPr>
          <p:cNvSpPr>
            <a:spLocks xmlns:a="http://schemas.openxmlformats.org/drawingml/2006/main" noGrp="1"/>
          </p:cNvSpPr>
          <p:nvPr/>
        </p:nvSpPr>
        <p:spPr>
          <a:xfrm xmlns:a="http://schemas.openxmlformats.org/drawingml/2006/main">
            <a:off x="762000" y="205740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047"/>
                </a:solidFill>
                <a:latin typeface="Arial"/>
                <a:ea typeface="Arial"/>
                <a:cs typeface="Arial"/>
              </a:defRPr>
            </a:defPPr>
          </a:lstStyle>
          <a:p xmlns:a="http://schemas.openxmlformats.org/drawingml/2006/main">
            <a:pPr>
              <a:defRPr sz="2100" b="1">
                <a:solidFill>
                  <a:srgbClr val="163047"/>
                </a:solidFill>
              </a:defRPr>
            </a:pPr>
            <a:r>
              <a:rPr sz="2100" b="1">
                <a:solidFill>
                  <a:srgbClr val="163047"/>
                </a:solidFill>
                <a:latin typeface="Arial"/>
                <a:ea typeface="Arial"/>
                <a:cs typeface="Arial"/>
              </a:rPr>
              <a:t>Browser</a:t>
            </a:r>
          </a:p>
        </p:txBody>
      </p:sp>
      <p:sp>
        <p:nvSpPr>
          <p:cNvPr id="5" name="">
            <a:extLst xmlns:a="http://schemas.openxmlformats.org/drawingml/2006/main">
              <a:ext uri="{FF2B5EF4-FFF2-40B4-BE49-F238E27FC236}">
                <a16:creationId xmlns:a16="http://schemas.microsoft.com/office/drawing/2014/main" id="{7BC1C999-43B6-4076-8F2E-3DEDACCF8B62}"/>
              </a:ext>
            </a:extLst>
          </p:cNvPr>
          <p:cNvSpPr>
            <a:spLocks xmlns:a="http://schemas.openxmlformats.org/drawingml/2006/main" noGrp="1"/>
          </p:cNvSpPr>
          <p:nvPr/>
        </p:nvSpPr>
        <p:spPr>
          <a:xfrm xmlns:a="http://schemas.openxmlformats.org/drawingml/2006/main">
            <a:off x="762000" y="2524125"/>
            <a:ext cx="2057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3047"/>
                </a:solidFill>
                <a:latin typeface="Arial"/>
                <a:ea typeface="Arial"/>
                <a:cs typeface="Arial"/>
              </a:defRPr>
            </a:defPPr>
          </a:lstStyle>
          <a:p xmlns:a="http://schemas.openxmlformats.org/drawingml/2006/main">
            <a:pPr>
              <a:defRPr sz="1800" b="0">
                <a:solidFill>
                  <a:srgbClr val="163047"/>
                </a:solidFill>
              </a:defRPr>
            </a:pPr>
            <a:r>
              <a:rPr sz="1800" b="0">
                <a:solidFill>
                  <a:srgbClr val="163047"/>
                </a:solidFill>
                <a:latin typeface="Arial"/>
                <a:ea typeface="Arial"/>
                <a:cs typeface="Arial"/>
              </a:rPr>
              <a:t>Form and history</a:t>
            </a:r>
          </a:p>
        </p:txBody>
      </p:sp>
      <p:sp>
        <p:nvSpPr>
          <p:cNvPr id="6" name="">
            <a:extLst xmlns:a="http://schemas.openxmlformats.org/drawingml/2006/main">
              <a:ext uri="{FF2B5EF4-FFF2-40B4-BE49-F238E27FC236}">
                <a16:creationId xmlns:a16="http://schemas.microsoft.com/office/drawing/2014/main" id="{F2E1D554-214D-48BA-A48F-759CADACEB07}"/>
              </a:ext>
            </a:extLst>
          </p:cNvPr>
          <p:cNvSpPr>
            <a:spLocks xmlns:a="http://schemas.openxmlformats.org/drawingml/2006/main" noGrp="1"/>
          </p:cNvSpPr>
          <p:nvPr/>
        </p:nvSpPr>
        <p:spPr>
          <a:xfrm xmlns:a="http://schemas.openxmlformats.org/drawingml/2006/main">
            <a:off x="3467100" y="1905000"/>
            <a:ext cx="2362200" cy="1666875"/>
          </a:xfrm>
          <a:prstGeom xmlns:a="http://schemas.openxmlformats.org/drawingml/2006/main" prst="rect">
            <a:avLst/>
          </a:prstGeom>
          <a:solidFill xmlns:a="http://schemas.openxmlformats.org/drawingml/2006/main">
            <a:srgbClr val="EEF5F5"/>
          </a:solidFill>
          <a:ln xmlns:a="http://schemas.openxmlformats.org/drawingml/2006/main" w="9525">
            <a:solidFill>
              <a:srgbClr val="9BB4BD"/>
            </a:solidFill>
          </a:ln>
        </p:spPr>
      </p:sp>
      <p:sp>
        <p:nvSpPr>
          <p:cNvPr id="7" name="">
            <a:extLst xmlns:a="http://schemas.openxmlformats.org/drawingml/2006/main">
              <a:ext uri="{FF2B5EF4-FFF2-40B4-BE49-F238E27FC236}">
                <a16:creationId xmlns:a16="http://schemas.microsoft.com/office/drawing/2014/main" id="{8AF92EBF-5FD8-4F63-AFC9-3977D6F158E9}"/>
              </a:ext>
            </a:extLst>
          </p:cNvPr>
          <p:cNvSpPr>
            <a:spLocks xmlns:a="http://schemas.openxmlformats.org/drawingml/2006/main" noGrp="1"/>
          </p:cNvSpPr>
          <p:nvPr/>
        </p:nvSpPr>
        <p:spPr>
          <a:xfrm xmlns:a="http://schemas.openxmlformats.org/drawingml/2006/main">
            <a:off x="3619500" y="205740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047"/>
                </a:solidFill>
                <a:latin typeface="Arial"/>
                <a:ea typeface="Arial"/>
                <a:cs typeface="Arial"/>
              </a:defRPr>
            </a:defPPr>
          </a:lstStyle>
          <a:p xmlns:a="http://schemas.openxmlformats.org/drawingml/2006/main">
            <a:pPr>
              <a:defRPr sz="2100" b="1">
                <a:solidFill>
                  <a:srgbClr val="163047"/>
                </a:solidFill>
              </a:defRPr>
            </a:pPr>
            <a:r>
              <a:rPr sz="2100" b="1">
                <a:solidFill>
                  <a:srgbClr val="163047"/>
                </a:solidFill>
                <a:latin typeface="Arial"/>
                <a:ea typeface="Arial"/>
                <a:cs typeface="Arial"/>
              </a:rPr>
              <a:t>Shared C3L app</a:t>
            </a:r>
          </a:p>
        </p:txBody>
      </p:sp>
      <p:sp>
        <p:nvSpPr>
          <p:cNvPr id="8" name="">
            <a:extLst xmlns:a="http://schemas.openxmlformats.org/drawingml/2006/main">
              <a:ext uri="{FF2B5EF4-FFF2-40B4-BE49-F238E27FC236}">
                <a16:creationId xmlns:a16="http://schemas.microsoft.com/office/drawing/2014/main" id="{916F723D-C98E-40A2-8415-73BB72F45F0F}"/>
              </a:ext>
            </a:extLst>
          </p:cNvPr>
          <p:cNvSpPr>
            <a:spLocks xmlns:a="http://schemas.openxmlformats.org/drawingml/2006/main" noGrp="1"/>
          </p:cNvSpPr>
          <p:nvPr/>
        </p:nvSpPr>
        <p:spPr>
          <a:xfrm xmlns:a="http://schemas.openxmlformats.org/drawingml/2006/main">
            <a:off x="3619500" y="2524125"/>
            <a:ext cx="2057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3047"/>
                </a:solidFill>
                <a:latin typeface="Arial"/>
                <a:ea typeface="Arial"/>
                <a:cs typeface="Arial"/>
              </a:defRPr>
            </a:defPPr>
          </a:lstStyle>
          <a:p xmlns:a="http://schemas.openxmlformats.org/drawingml/2006/main">
            <a:pPr>
              <a:defRPr sz="1800" b="0">
                <a:solidFill>
                  <a:srgbClr val="163047"/>
                </a:solidFill>
              </a:defRPr>
            </a:pPr>
            <a:r>
              <a:rPr sz="1800" b="0">
                <a:solidFill>
                  <a:srgbClr val="163047"/>
                </a:solidFill>
                <a:latin typeface="Arial"/>
                <a:ea typeface="Arial"/>
                <a:cs typeface="Arial"/>
              </a:rPr>
              <a:t>/10-attendance</a:t>
            </a:r>
          </a:p>
        </p:txBody>
      </p:sp>
      <p:sp>
        <p:nvSpPr>
          <p:cNvPr id="9" name="">
            <a:extLst xmlns:a="http://schemas.openxmlformats.org/drawingml/2006/main">
              <a:ext uri="{FF2B5EF4-FFF2-40B4-BE49-F238E27FC236}">
                <a16:creationId xmlns:a16="http://schemas.microsoft.com/office/drawing/2014/main" id="{7EE1713E-6D1E-485E-88B0-0B6BA6B1EE96}"/>
              </a:ext>
            </a:extLst>
          </p:cNvPr>
          <p:cNvSpPr>
            <a:spLocks xmlns:a="http://schemas.openxmlformats.org/drawingml/2006/main" noGrp="1"/>
          </p:cNvSpPr>
          <p:nvPr/>
        </p:nvSpPr>
        <p:spPr>
          <a:xfrm xmlns:a="http://schemas.openxmlformats.org/drawingml/2006/main">
            <a:off x="6324600" y="1905000"/>
            <a:ext cx="2362200" cy="1666875"/>
          </a:xfrm>
          <a:prstGeom xmlns:a="http://schemas.openxmlformats.org/drawingml/2006/main" prst="rect">
            <a:avLst/>
          </a:prstGeom>
          <a:solidFill xmlns:a="http://schemas.openxmlformats.org/drawingml/2006/main">
            <a:srgbClr val="EEF5F5"/>
          </a:solidFill>
          <a:ln xmlns:a="http://schemas.openxmlformats.org/drawingml/2006/main" w="9525">
            <a:solidFill>
              <a:srgbClr val="9BB4BD"/>
            </a:solidFill>
          </a:ln>
        </p:spPr>
      </p:sp>
      <p:sp>
        <p:nvSpPr>
          <p:cNvPr id="10" name="">
            <a:extLst xmlns:a="http://schemas.openxmlformats.org/drawingml/2006/main">
              <a:ext uri="{FF2B5EF4-FFF2-40B4-BE49-F238E27FC236}">
                <a16:creationId xmlns:a16="http://schemas.microsoft.com/office/drawing/2014/main" id="{69AF851E-FDD5-4281-803E-80FF303947AC}"/>
              </a:ext>
            </a:extLst>
          </p:cNvPr>
          <p:cNvSpPr>
            <a:spLocks xmlns:a="http://schemas.openxmlformats.org/drawingml/2006/main" noGrp="1"/>
          </p:cNvSpPr>
          <p:nvPr/>
        </p:nvSpPr>
        <p:spPr>
          <a:xfrm xmlns:a="http://schemas.openxmlformats.org/drawingml/2006/main">
            <a:off x="6477000" y="205740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047"/>
                </a:solidFill>
                <a:latin typeface="Arial"/>
                <a:ea typeface="Arial"/>
                <a:cs typeface="Arial"/>
              </a:defRPr>
            </a:defPPr>
          </a:lstStyle>
          <a:p xmlns:a="http://schemas.openxmlformats.org/drawingml/2006/main">
            <a:pPr>
              <a:defRPr sz="2100" b="1">
                <a:solidFill>
                  <a:srgbClr val="163047"/>
                </a:solidFill>
              </a:defRPr>
            </a:pPr>
            <a:r>
              <a:rPr sz="2100" b="1">
                <a:solidFill>
                  <a:srgbClr val="163047"/>
                </a:solidFill>
                <a:latin typeface="Arial"/>
                <a:ea typeface="Arial"/>
                <a:cs typeface="Arial"/>
              </a:rPr>
              <a:t>Router</a:t>
            </a:r>
          </a:p>
        </p:txBody>
      </p:sp>
      <p:sp>
        <p:nvSpPr>
          <p:cNvPr id="11" name="">
            <a:extLst xmlns:a="http://schemas.openxmlformats.org/drawingml/2006/main">
              <a:ext uri="{FF2B5EF4-FFF2-40B4-BE49-F238E27FC236}">
                <a16:creationId xmlns:a16="http://schemas.microsoft.com/office/drawing/2014/main" id="{77B78497-4EED-407C-9BC8-327D1A44373E}"/>
              </a:ext>
            </a:extLst>
          </p:cNvPr>
          <p:cNvSpPr>
            <a:spLocks xmlns:a="http://schemas.openxmlformats.org/drawingml/2006/main" noGrp="1"/>
          </p:cNvSpPr>
          <p:nvPr/>
        </p:nvSpPr>
        <p:spPr>
          <a:xfrm xmlns:a="http://schemas.openxmlformats.org/drawingml/2006/main">
            <a:off x="6477000" y="2524125"/>
            <a:ext cx="2057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3047"/>
                </a:solidFill>
                <a:latin typeface="Arial"/>
                <a:ea typeface="Arial"/>
                <a:cs typeface="Arial"/>
              </a:defRPr>
            </a:defPPr>
          </a:lstStyle>
          <a:p xmlns:a="http://schemas.openxmlformats.org/drawingml/2006/main">
            <a:pPr>
              <a:defRPr sz="1800" b="0">
                <a:solidFill>
                  <a:srgbClr val="163047"/>
                </a:solidFill>
              </a:defRPr>
            </a:pPr>
            <a:r>
              <a:rPr sz="1800" b="0">
                <a:solidFill>
                  <a:srgbClr val="163047"/>
                </a:solidFill>
                <a:latin typeface="Arial"/>
                <a:ea typeface="Arial"/>
                <a:cs typeface="Arial"/>
              </a:rPr>
              <a:t>Validation and requests</a:t>
            </a:r>
          </a:p>
        </p:txBody>
      </p:sp>
      <p:sp>
        <p:nvSpPr>
          <p:cNvPr id="12" name="">
            <a:extLst xmlns:a="http://schemas.openxmlformats.org/drawingml/2006/main">
              <a:ext uri="{FF2B5EF4-FFF2-40B4-BE49-F238E27FC236}">
                <a16:creationId xmlns:a16="http://schemas.microsoft.com/office/drawing/2014/main" id="{83D39CCC-C471-4940-8E9F-EA7FB0CB80A7}"/>
              </a:ext>
            </a:extLst>
          </p:cNvPr>
          <p:cNvSpPr>
            <a:spLocks xmlns:a="http://schemas.openxmlformats.org/drawingml/2006/main" noGrp="1"/>
          </p:cNvSpPr>
          <p:nvPr/>
        </p:nvSpPr>
        <p:spPr>
          <a:xfrm xmlns:a="http://schemas.openxmlformats.org/drawingml/2006/main">
            <a:off x="9182100" y="1905000"/>
            <a:ext cx="2362200" cy="1666875"/>
          </a:xfrm>
          <a:prstGeom xmlns:a="http://schemas.openxmlformats.org/drawingml/2006/main" prst="rect">
            <a:avLst/>
          </a:prstGeom>
          <a:solidFill xmlns:a="http://schemas.openxmlformats.org/drawingml/2006/main">
            <a:srgbClr val="EEF5F5"/>
          </a:solidFill>
          <a:ln xmlns:a="http://schemas.openxmlformats.org/drawingml/2006/main" w="9525">
            <a:solidFill>
              <a:srgbClr val="9BB4BD"/>
            </a:solidFill>
          </a:ln>
        </p:spPr>
      </p:sp>
      <p:sp>
        <p:nvSpPr>
          <p:cNvPr id="13" name="">
            <a:extLst xmlns:a="http://schemas.openxmlformats.org/drawingml/2006/main">
              <a:ext uri="{FF2B5EF4-FFF2-40B4-BE49-F238E27FC236}">
                <a16:creationId xmlns:a16="http://schemas.microsoft.com/office/drawing/2014/main" id="{7447466F-9EE3-4954-8EF3-DE50F4C92B64}"/>
              </a:ext>
            </a:extLst>
          </p:cNvPr>
          <p:cNvSpPr>
            <a:spLocks xmlns:a="http://schemas.openxmlformats.org/drawingml/2006/main" noGrp="1"/>
          </p:cNvSpPr>
          <p:nvPr/>
        </p:nvSpPr>
        <p:spPr>
          <a:xfrm xmlns:a="http://schemas.openxmlformats.org/drawingml/2006/main">
            <a:off x="9334500" y="205740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047"/>
                </a:solidFill>
                <a:latin typeface="Arial"/>
                <a:ea typeface="Arial"/>
                <a:cs typeface="Arial"/>
              </a:defRPr>
            </a:defPPr>
          </a:lstStyle>
          <a:p xmlns:a="http://schemas.openxmlformats.org/drawingml/2006/main">
            <a:pPr>
              <a:defRPr sz="2100" b="1">
                <a:solidFill>
                  <a:srgbClr val="163047"/>
                </a:solidFill>
              </a:defRPr>
            </a:pPr>
            <a:r>
              <a:rPr sz="2100" b="1">
                <a:solidFill>
                  <a:srgbClr val="163047"/>
                </a:solidFill>
                <a:latin typeface="Arial"/>
                <a:ea typeface="Arial"/>
                <a:cs typeface="Arial"/>
              </a:rPr>
              <a:t>SQLite</a:t>
            </a:r>
          </a:p>
        </p:txBody>
      </p:sp>
      <p:sp>
        <p:nvSpPr>
          <p:cNvPr id="14" name="">
            <a:extLst xmlns:a="http://schemas.openxmlformats.org/drawingml/2006/main">
              <a:ext uri="{FF2B5EF4-FFF2-40B4-BE49-F238E27FC236}">
                <a16:creationId xmlns:a16="http://schemas.microsoft.com/office/drawing/2014/main" id="{BE5515C2-7712-4CA8-A07F-5EDC81356213}"/>
              </a:ext>
            </a:extLst>
          </p:cNvPr>
          <p:cNvSpPr>
            <a:spLocks xmlns:a="http://schemas.openxmlformats.org/drawingml/2006/main" noGrp="1"/>
          </p:cNvSpPr>
          <p:nvPr/>
        </p:nvSpPr>
        <p:spPr>
          <a:xfrm xmlns:a="http://schemas.openxmlformats.org/drawingml/2006/main">
            <a:off x="9334500" y="2524125"/>
            <a:ext cx="2057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3047"/>
                </a:solidFill>
                <a:latin typeface="Arial"/>
                <a:ea typeface="Arial"/>
                <a:cs typeface="Arial"/>
              </a:defRPr>
            </a:defPPr>
          </a:lstStyle>
          <a:p xmlns:a="http://schemas.openxmlformats.org/drawingml/2006/main">
            <a:pPr>
              <a:defRPr sz="1800" b="0">
                <a:solidFill>
                  <a:srgbClr val="163047"/>
                </a:solidFill>
              </a:defRPr>
            </a:pPr>
            <a:r>
              <a:rPr sz="1800" b="0">
                <a:solidFill>
                  <a:srgbClr val="163047"/>
                </a:solidFill>
                <a:latin typeface="Arial"/>
                <a:ea typeface="Arial"/>
                <a:cs typeface="Arial"/>
              </a:rPr>
              <a:t>Local saved records</a:t>
            </a:r>
          </a:p>
        </p:txBody>
      </p:sp>
      <p:sp>
        <p:nvSpPr>
          <p:cNvPr id="15" name="">
            <a:extLst xmlns:a="http://schemas.openxmlformats.org/drawingml/2006/main">
              <a:ext uri="{FF2B5EF4-FFF2-40B4-BE49-F238E27FC236}">
                <a16:creationId xmlns:a16="http://schemas.microsoft.com/office/drawing/2014/main" id="{4191B058-62A8-4C87-9431-C3C50CC20517}"/>
              </a:ext>
            </a:extLst>
          </p:cNvPr>
          <p:cNvSpPr>
            <a:spLocks xmlns:a="http://schemas.openxmlformats.org/drawingml/2006/main" noGrp="1"/>
          </p:cNvSpPr>
          <p:nvPr/>
        </p:nvSpPr>
        <p:spPr>
          <a:xfrm xmlns:a="http://schemas.openxmlformats.org/drawingml/2006/main">
            <a:off x="3028950" y="2571750"/>
            <a:ext cx="381000" cy="228600"/>
          </a:xfrm>
          <a:prstGeom xmlns:a="http://schemas.openxmlformats.org/drawingml/2006/main" prst="rightArrow">
            <a:avLst/>
          </a:prstGeom>
          <a:solidFill xmlns:a="http://schemas.openxmlformats.org/drawingml/2006/main">
            <a:srgbClr val="006F7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89D3FB6-4DD1-476D-95A1-706E06F2CBD2}"/>
              </a:ext>
            </a:extLst>
          </p:cNvPr>
          <p:cNvSpPr>
            <a:spLocks xmlns:a="http://schemas.openxmlformats.org/drawingml/2006/main" noGrp="1"/>
          </p:cNvSpPr>
          <p:nvPr/>
        </p:nvSpPr>
        <p:spPr>
          <a:xfrm xmlns:a="http://schemas.openxmlformats.org/drawingml/2006/main">
            <a:off x="5886450" y="2571750"/>
            <a:ext cx="381000" cy="228600"/>
          </a:xfrm>
          <a:prstGeom xmlns:a="http://schemas.openxmlformats.org/drawingml/2006/main" prst="rightArrow">
            <a:avLst/>
          </a:prstGeom>
          <a:solidFill xmlns:a="http://schemas.openxmlformats.org/drawingml/2006/main">
            <a:srgbClr val="006F7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9B3945-C76E-4CA8-A639-FBF1D14CB921}"/>
              </a:ext>
            </a:extLst>
          </p:cNvPr>
          <p:cNvSpPr>
            <a:spLocks xmlns:a="http://schemas.openxmlformats.org/drawingml/2006/main" noGrp="1"/>
          </p:cNvSpPr>
          <p:nvPr/>
        </p:nvSpPr>
        <p:spPr>
          <a:xfrm xmlns:a="http://schemas.openxmlformats.org/drawingml/2006/main">
            <a:off x="8743950" y="2571750"/>
            <a:ext cx="381000" cy="228600"/>
          </a:xfrm>
          <a:prstGeom xmlns:a="http://schemas.openxmlformats.org/drawingml/2006/main" prst="rightArrow">
            <a:avLst/>
          </a:prstGeom>
          <a:solidFill xmlns:a="http://schemas.openxmlformats.org/drawingml/2006/main">
            <a:srgbClr val="006F7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C885FAB-5960-423C-AC9A-479EDEADF08B}"/>
              </a:ext>
            </a:extLst>
          </p:cNvPr>
          <p:cNvSpPr>
            <a:spLocks xmlns:a="http://schemas.openxmlformats.org/drawingml/2006/main" noGrp="1"/>
          </p:cNvSpPr>
          <p:nvPr/>
        </p:nvSpPr>
        <p:spPr>
          <a:xfrm xmlns:a="http://schemas.openxmlformats.org/drawingml/2006/main">
            <a:off x="647700" y="4143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06F70"/>
                </a:solidFill>
                <a:latin typeface="Arial"/>
                <a:ea typeface="Arial"/>
                <a:cs typeface="Arial"/>
              </a:defRPr>
            </a:defPPr>
          </a:lstStyle>
          <a:p xmlns:a="http://schemas.openxmlformats.org/drawingml/2006/main">
            <a:pPr>
              <a:defRPr sz="2325" b="1">
                <a:solidFill>
                  <a:srgbClr val="006F70"/>
                </a:solidFill>
              </a:defRPr>
            </a:pPr>
            <a:r>
              <a:rPr sz="2325" b="1">
                <a:solidFill>
                  <a:srgbClr val="006F70"/>
                </a:solidFill>
                <a:latin typeface="Arial"/>
                <a:ea typeface="Arial"/>
                <a:cs typeface="Arial"/>
              </a:rPr>
              <a:t>Interface: formPage.js and historyPage.js</a:t>
            </a:r>
          </a:p>
        </p:txBody>
      </p:sp>
      <p:sp>
        <p:nvSpPr>
          <p:cNvPr id="19" name="">
            <a:extLst xmlns:a="http://schemas.openxmlformats.org/drawingml/2006/main">
              <a:ext uri="{FF2B5EF4-FFF2-40B4-BE49-F238E27FC236}">
                <a16:creationId xmlns:a16="http://schemas.microsoft.com/office/drawing/2014/main" id="{CABAEC87-51A1-48F1-80EA-8E82DA73DA35}"/>
              </a:ext>
            </a:extLst>
          </p:cNvPr>
          <p:cNvSpPr>
            <a:spLocks xmlns:a="http://schemas.openxmlformats.org/drawingml/2006/main" noGrp="1"/>
          </p:cNvSpPr>
          <p:nvPr/>
        </p:nvSpPr>
        <p:spPr>
          <a:xfrm xmlns:a="http://schemas.openxmlformats.org/drawingml/2006/main">
            <a:off x="647700" y="48577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047"/>
                </a:solidFill>
                <a:latin typeface="Arial"/>
                <a:ea typeface="Arial"/>
                <a:cs typeface="Arial"/>
              </a:defRPr>
            </a:defPPr>
          </a:lstStyle>
          <a:p xmlns:a="http://schemas.openxmlformats.org/drawingml/2006/main">
            <a:pPr>
              <a:defRPr sz="2100" b="0">
                <a:solidFill>
                  <a:srgbClr val="163047"/>
                </a:solidFill>
              </a:defRPr>
            </a:pPr>
            <a:r>
              <a:rPr sz="2100" b="0">
                <a:solidFill>
                  <a:srgbClr val="163047"/>
                </a:solidFill>
                <a:latin typeface="Arial"/>
                <a:ea typeface="Arial"/>
                <a:cs typeface="Arial"/>
              </a:rPr>
              <a:t>Backend: router.js, attendance.js and AttendanceStore</a:t>
            </a:r>
          </a:p>
          <a:p xmlns:a="http://schemas.openxmlformats.org/drawingml/2006/main">
            <a:pPr>
              <a:defRPr sz="2100" b="0">
                <a:solidFill>
                  <a:srgbClr val="163047"/>
                </a:solidFill>
              </a:defRPr>
            </a:pPr>
            <a:r>
              <a:rPr sz="2100" b="0">
                <a:solidFill>
                  <a:srgbClr val="163047"/>
                </a:solidFill>
                <a:latin typeface="Arial"/>
                <a:ea typeface="Arial"/>
                <a:cs typeface="Arial"/>
              </a:rPr>
              <a:t>Shared application files remain unchanged</a:t>
            </a:r>
          </a:p>
        </p:txBody>
      </p:sp>
      <p:sp>
        <p:nvSpPr>
          <p:cNvPr id="20" name="">
            <a:extLst xmlns:a="http://schemas.openxmlformats.org/drawingml/2006/main">
              <a:ext uri="{FF2B5EF4-FFF2-40B4-BE49-F238E27FC236}">
                <a16:creationId xmlns:a16="http://schemas.microsoft.com/office/drawing/2014/main" id="{A15F0F02-E102-47AA-87DF-C153F89AAD18}"/>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Gera   5:00-6:00</a:t>
            </a:r>
          </a:p>
        </p:txBody>
      </p:sp>
    </p:spTree>
    <p:extLst>
      <p:ext uri="{BB962C8B-B14F-4D97-AF65-F5344CB8AC3E}">
        <p14:creationId xmlns:p14="http://schemas.microsoft.com/office/powerpoint/2010/main" val="19119393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D6E6CC-A4CB-46F6-A71A-CA8ABE870698}"/>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Database and class design</a:t>
            </a:r>
          </a:p>
        </p:txBody>
      </p:sp>
      <p:sp>
        <p:nvSpPr>
          <p:cNvPr id="3" name="">
            <a:extLst xmlns:a="http://schemas.openxmlformats.org/drawingml/2006/main">
              <a:ext uri="{FF2B5EF4-FFF2-40B4-BE49-F238E27FC236}">
                <a16:creationId xmlns:a16="http://schemas.microsoft.com/office/drawing/2014/main" id="{8C69222F-BB94-422E-9AE5-E763CF865701}"/>
              </a:ext>
            </a:extLst>
          </p:cNvPr>
          <p:cNvSpPr>
            <a:spLocks xmlns:a="http://schemas.openxmlformats.org/drawingml/2006/main" noGrp="1"/>
          </p:cNvSpPr>
          <p:nvPr/>
        </p:nvSpPr>
        <p:spPr>
          <a:xfrm xmlns:a="http://schemas.openxmlformats.org/drawingml/2006/main">
            <a:off x="609600" y="1619250"/>
            <a:ext cx="3714750" cy="3429000"/>
          </a:xfrm>
          <a:prstGeom xmlns:a="http://schemas.openxmlformats.org/drawingml/2006/main" prst="rect">
            <a:avLst/>
          </a:prstGeom>
          <a:solidFill xmlns:a="http://schemas.openxmlformats.org/drawingml/2006/main">
            <a:srgbClr val="EEF5F5"/>
          </a:solidFill>
          <a:ln xmlns:a="http://schemas.openxmlformats.org/drawingml/2006/main" w="9525">
            <a:solidFill>
              <a:srgbClr val="9BB4BD"/>
            </a:solidFill>
          </a:ln>
        </p:spPr>
      </p:sp>
      <p:sp>
        <p:nvSpPr>
          <p:cNvPr id="4" name="">
            <a:extLst xmlns:a="http://schemas.openxmlformats.org/drawingml/2006/main">
              <a:ext uri="{FF2B5EF4-FFF2-40B4-BE49-F238E27FC236}">
                <a16:creationId xmlns:a16="http://schemas.microsoft.com/office/drawing/2014/main" id="{46208112-1767-4AF0-8311-09DB57A1CCBE}"/>
              </a:ext>
            </a:extLst>
          </p:cNvPr>
          <p:cNvSpPr>
            <a:spLocks xmlns:a="http://schemas.openxmlformats.org/drawingml/2006/main" noGrp="1"/>
          </p:cNvSpPr>
          <p:nvPr/>
        </p:nvSpPr>
        <p:spPr>
          <a:xfrm xmlns:a="http://schemas.openxmlformats.org/drawingml/2006/main">
            <a:off x="762000" y="1771650"/>
            <a:ext cx="3409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047"/>
                </a:solidFill>
                <a:latin typeface="Arial"/>
                <a:ea typeface="Arial"/>
                <a:cs typeface="Arial"/>
              </a:defRPr>
            </a:defPPr>
          </a:lstStyle>
          <a:p xmlns:a="http://schemas.openxmlformats.org/drawingml/2006/main">
            <a:pPr>
              <a:defRPr sz="2100" b="1">
                <a:solidFill>
                  <a:srgbClr val="163047"/>
                </a:solidFill>
              </a:defRPr>
            </a:pPr>
            <a:r>
              <a:rPr sz="2100" b="1">
                <a:solidFill>
                  <a:srgbClr val="163047"/>
                </a:solidFill>
                <a:latin typeface="Arial"/>
                <a:ea typeface="Arial"/>
                <a:cs typeface="Arial"/>
              </a:rPr>
              <a:t>AttendanceStore</a:t>
            </a:r>
          </a:p>
        </p:txBody>
      </p:sp>
      <p:sp>
        <p:nvSpPr>
          <p:cNvPr id="5" name="">
            <a:extLst xmlns:a="http://schemas.openxmlformats.org/drawingml/2006/main">
              <a:ext uri="{FF2B5EF4-FFF2-40B4-BE49-F238E27FC236}">
                <a16:creationId xmlns:a16="http://schemas.microsoft.com/office/drawing/2014/main" id="{9A0ED1E0-B7CE-48C1-BE6B-874634433131}"/>
              </a:ext>
            </a:extLst>
          </p:cNvPr>
          <p:cNvSpPr>
            <a:spLocks xmlns:a="http://schemas.openxmlformats.org/drawingml/2006/main" noGrp="1"/>
          </p:cNvSpPr>
          <p:nvPr/>
        </p:nvSpPr>
        <p:spPr>
          <a:xfrm xmlns:a="http://schemas.openxmlformats.org/drawingml/2006/main">
            <a:off x="762000" y="2238375"/>
            <a:ext cx="34099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3047"/>
                </a:solidFill>
                <a:latin typeface="Arial"/>
                <a:ea typeface="Arial"/>
                <a:cs typeface="Arial"/>
              </a:defRPr>
            </a:defPPr>
          </a:lstStyle>
          <a:p xmlns:a="http://schemas.openxmlformats.org/drawingml/2006/main">
            <a:pPr>
              <a:defRPr sz="1800" b="0">
                <a:solidFill>
                  <a:srgbClr val="163047"/>
                </a:solidFill>
              </a:defRPr>
            </a:pPr>
            <a:r>
              <a:rPr sz="1800" b="0">
                <a:solidFill>
                  <a:srgbClr val="163047"/>
                </a:solidFill>
                <a:latin typeface="Arial"/>
                <a:ea typeface="Arial"/>
                <a:cs typeface="Arial"/>
              </a:rPr>
              <a:t>filename</a:t>
            </a:r>
          </a:p>
          <a:p xmlns:a="http://schemas.openxmlformats.org/drawingml/2006/main">
            <a:pPr>
              <a:defRPr sz="1800" b="0">
                <a:solidFill>
                  <a:srgbClr val="163047"/>
                </a:solidFill>
              </a:defRPr>
            </a:pPr>
            <a:r>
              <a:rPr sz="1800" b="0">
                <a:solidFill>
                  <a:srgbClr val="163047"/>
                </a:solidFill>
                <a:latin typeface="Arial"/>
                <a:ea typeface="Arial"/>
                <a:cs typeface="Arial"/>
              </a:rPr>
              <a:t>database</a:t>
            </a:r>
          </a:p>
          <a:p xmlns:a="http://schemas.openxmlformats.org/drawingml/2006/main">
            <a:r>
              <a:t/>
            </a:r>
          </a:p>
          <a:p xmlns:a="http://schemas.openxmlformats.org/drawingml/2006/main">
            <a:pPr>
              <a:defRPr sz="1800" b="0">
                <a:solidFill>
                  <a:srgbClr val="163047"/>
                </a:solidFill>
              </a:defRPr>
            </a:pPr>
            <a:r>
              <a:rPr sz="1800" b="0">
                <a:solidFill>
                  <a:srgbClr val="163047"/>
                </a:solidFill>
                <a:latin typeface="Arial"/>
                <a:ea typeface="Arial"/>
                <a:cs typeface="Arial"/>
              </a:rPr>
              <a:t>constructor(filename)</a:t>
            </a:r>
          </a:p>
          <a:p xmlns:a="http://schemas.openxmlformats.org/drawingml/2006/main">
            <a:pPr>
              <a:defRPr sz="1800" b="0">
                <a:solidFill>
                  <a:srgbClr val="163047"/>
                </a:solidFill>
              </a:defRPr>
            </a:pPr>
            <a:r>
              <a:rPr sz="1800" b="0">
                <a:solidFill>
                  <a:srgbClr val="163047"/>
                </a:solidFill>
                <a:latin typeface="Arial"/>
                <a:ea typeface="Arial"/>
                <a:cs typeface="Arial"/>
              </a:rPr>
              <a:t>save(input)</a:t>
            </a:r>
          </a:p>
          <a:p xmlns:a="http://schemas.openxmlformats.org/drawingml/2006/main">
            <a:pPr>
              <a:defRPr sz="1800" b="0">
                <a:solidFill>
                  <a:srgbClr val="163047"/>
                </a:solidFill>
              </a:defRPr>
            </a:pPr>
            <a:r>
              <a:rPr sz="1800" b="0">
                <a:solidFill>
                  <a:srgbClr val="163047"/>
                </a:solidFill>
                <a:latin typeface="Arial"/>
                <a:ea typeface="Arial"/>
                <a:cs typeface="Arial"/>
              </a:rPr>
              <a:t>list(filter)</a:t>
            </a:r>
          </a:p>
          <a:p xmlns:a="http://schemas.openxmlformats.org/drawingml/2006/main">
            <a:pPr>
              <a:defRPr sz="1800" b="0">
                <a:solidFill>
                  <a:srgbClr val="163047"/>
                </a:solidFill>
              </a:defRPr>
            </a:pPr>
            <a:r>
              <a:rPr sz="1800" b="0">
                <a:solidFill>
                  <a:srgbClr val="163047"/>
                </a:solidFill>
                <a:latin typeface="Arial"/>
                <a:ea typeface="Arial"/>
                <a:cs typeface="Arial"/>
              </a:rPr>
              <a:t>close()</a:t>
            </a:r>
          </a:p>
        </p:txBody>
      </p:sp>
      <p:graphicFrame>
        <p:nvGraphicFramePr>
          <p:cNvPr id="6" name="">
            <a:extLst xmlns:a="http://schemas.openxmlformats.org/drawingml/2006/main">
              <a:ext uri="{FF2B5EF4-FFF2-40B4-BE49-F238E27FC236}">
                <a16:creationId xmlns:a16="http://schemas.microsoft.com/office/drawing/2014/main" id="{8E13EBED-5EE0-43CA-9D2B-B1A90FA82C2C}"/>
              </a:ext>
            </a:extLst>
          </p:cNvPr>
          <p:cNvGraphicFramePr/>
          <p:nvPr/>
        </p:nvGraphicFramePr>
        <p:xfrm>
          <a:off xmlns:a="http://schemas.openxmlformats.org/drawingml/2006/main" x="4762500" y="1619250"/>
          <a:ext xmlns:a="http://schemas.openxmlformats.org/drawingml/2006/main" cx="6810375" cy="3286125"/>
        </p:xfrm>
        <a:graphic xmlns:a="http://schemas.openxmlformats.org/drawingml/2006/main">
          <a:graphicData uri="http://schemas.openxmlformats.org/drawingml/2006/table">
            <a:tbl>
              <a:tblPr/>
              <a:tblGrid>
                <a:gridCol w="3429000"/>
                <a:gridCol w="3381375"/>
              </a:tblGrid>
              <a:tr h="469446">
                <a:tc>
                  <a:txBody>
                    <a:bodyPr/>
                    <a:lstStyle/>
                    <a:p>
                      <a:r>
                        <a:rPr sz="1725" b="1">
                          <a:solidFill>
                            <a:srgbClr val="163047"/>
                          </a:solidFill>
                          <a:latin typeface="Arial"/>
                          <a:ea typeface="Arial"/>
                          <a:cs typeface="Arial"/>
                        </a:rPr>
                        <a:t>attendance field</a:t>
                      </a:r>
                    </a:p>
                  </a:txBody>
                  <a:tcPr marL="91440" marR="91440" marT="45720" marB="45720">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EEF5F5"/>
                    </a:solidFill>
                  </a:tcPr>
                </a:tc>
                <a:tc>
                  <a:txBody>
                    <a:bodyPr/>
                    <a:lstStyle/>
                    <a:p>
                      <a:r>
                        <a:rPr sz="1725" b="1">
                          <a:solidFill>
                            <a:srgbClr val="163047"/>
                          </a:solidFill>
                          <a:latin typeface="Arial"/>
                          <a:ea typeface="Arial"/>
                          <a:cs typeface="Arial"/>
                        </a:rPr>
                        <a:t>SQLite type</a:t>
                      </a:r>
                    </a:p>
                  </a:txBody>
                  <a:tcPr marL="91440" marR="91440" marT="45720" marB="45720">
                    <a:lnR w="9525">
                      <a:solidFill>
                        <a:srgbClr val="CCD9DE"/>
                      </a:solidFill>
                      <a:prstDash val="solid"/>
                    </a:lnR>
                    <a:lnT w="9525">
                      <a:solidFill>
                        <a:srgbClr val="CCD9DE"/>
                      </a:solidFill>
                      <a:prstDash val="solid"/>
                    </a:lnT>
                    <a:lnB w="9525">
                      <a:solidFill>
                        <a:srgbClr val="CCD9DE"/>
                      </a:solidFill>
                      <a:prstDash val="solid"/>
                    </a:lnB>
                    <a:solidFill>
                      <a:srgbClr val="EEF5F5"/>
                    </a:solidFill>
                  </a:tcPr>
                </a:tc>
              </a:tr>
              <a:tr h="469446">
                <a:tc>
                  <a:txBody>
                    <a:bodyPr/>
                    <a:lstStyle/>
                    <a:p>
                      <a:r>
                        <a:rPr sz="1725" b="0">
                          <a:solidFill>
                            <a:srgbClr val="163047"/>
                          </a:solidFill>
                          <a:latin typeface="Arial"/>
                          <a:ea typeface="Arial"/>
                          <a:cs typeface="Arial"/>
                        </a:rPr>
                        <a:t>id</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INTEGER primary key</a:t>
                      </a:r>
                    </a:p>
                  </a:txBody>
                  <a:tcPr marL="91440" marR="91440" marT="45720" marB="45720">
                    <a:lnR w="9525">
                      <a:solidFill>
                        <a:srgbClr val="CCD9DE"/>
                      </a:solidFill>
                      <a:prstDash val="solid"/>
                    </a:lnR>
                    <a:lnB w="9525">
                      <a:solidFill>
                        <a:srgbClr val="CCD9DE"/>
                      </a:solidFill>
                      <a:prstDash val="solid"/>
                    </a:lnB>
                    <a:solidFill>
                      <a:srgbClr val="FFFFFF"/>
                    </a:solidFill>
                  </a:tcPr>
                </a:tc>
              </a:tr>
              <a:tr h="469446">
                <a:tc>
                  <a:txBody>
                    <a:bodyPr/>
                    <a:lstStyle/>
                    <a:p>
                      <a:r>
                        <a:rPr sz="1725" b="0">
                          <a:solidFill>
                            <a:srgbClr val="163047"/>
                          </a:solidFill>
                          <a:latin typeface="Arial"/>
                          <a:ea typeface="Arial"/>
                          <a:cs typeface="Arial"/>
                        </a:rPr>
                        <a:t>course_id, student_id</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TEXT</a:t>
                      </a:r>
                    </a:p>
                  </a:txBody>
                  <a:tcPr marL="91440" marR="91440" marT="45720" marB="45720">
                    <a:lnR w="9525">
                      <a:solidFill>
                        <a:srgbClr val="CCD9DE"/>
                      </a:solidFill>
                      <a:prstDash val="solid"/>
                    </a:lnR>
                    <a:lnB w="9525">
                      <a:solidFill>
                        <a:srgbClr val="CCD9DE"/>
                      </a:solidFill>
                      <a:prstDash val="solid"/>
                    </a:lnB>
                    <a:solidFill>
                      <a:srgbClr val="FFFFFF"/>
                    </a:solidFill>
                  </a:tcPr>
                </a:tc>
              </a:tr>
              <a:tr h="469446">
                <a:tc>
                  <a:txBody>
                    <a:bodyPr/>
                    <a:lstStyle/>
                    <a:p>
                      <a:r>
                        <a:rPr sz="1725" b="0">
                          <a:solidFill>
                            <a:srgbClr val="163047"/>
                          </a:solidFill>
                          <a:latin typeface="Arial"/>
                          <a:ea typeface="Arial"/>
                          <a:cs typeface="Arial"/>
                        </a:rPr>
                        <a:t>attendance_date</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TEXT YYYY-MM-DD</a:t>
                      </a:r>
                    </a:p>
                  </a:txBody>
                  <a:tcPr marL="91440" marR="91440" marT="45720" marB="45720">
                    <a:lnR w="9525">
                      <a:solidFill>
                        <a:srgbClr val="CCD9DE"/>
                      </a:solidFill>
                      <a:prstDash val="solid"/>
                    </a:lnR>
                    <a:lnB w="9525">
                      <a:solidFill>
                        <a:srgbClr val="CCD9DE"/>
                      </a:solidFill>
                      <a:prstDash val="solid"/>
                    </a:lnB>
                    <a:solidFill>
                      <a:srgbClr val="FFFFFF"/>
                    </a:solidFill>
                  </a:tcPr>
                </a:tc>
              </a:tr>
              <a:tr h="469446">
                <a:tc>
                  <a:txBody>
                    <a:bodyPr/>
                    <a:lstStyle/>
                    <a:p>
                      <a:r>
                        <a:rPr sz="1725" b="0">
                          <a:solidFill>
                            <a:srgbClr val="163047"/>
                          </a:solidFill>
                          <a:latin typeface="Arial"/>
                          <a:ea typeface="Arial"/>
                          <a:cs typeface="Arial"/>
                        </a:rPr>
                        <a:t>status</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TEXT with allowed values</a:t>
                      </a:r>
                    </a:p>
                  </a:txBody>
                  <a:tcPr marL="91440" marR="91440" marT="45720" marB="45720">
                    <a:lnR w="9525">
                      <a:solidFill>
                        <a:srgbClr val="CCD9DE"/>
                      </a:solidFill>
                      <a:prstDash val="solid"/>
                    </a:lnR>
                    <a:lnB w="9525">
                      <a:solidFill>
                        <a:srgbClr val="CCD9DE"/>
                      </a:solidFill>
                      <a:prstDash val="solid"/>
                    </a:lnB>
                    <a:solidFill>
                      <a:srgbClr val="FFFFFF"/>
                    </a:solidFill>
                  </a:tcPr>
                </a:tc>
              </a:tr>
              <a:tr h="469446">
                <a:tc>
                  <a:txBody>
                    <a:bodyPr/>
                    <a:lstStyle/>
                    <a:p>
                      <a:r>
                        <a:rPr sz="1725" b="0">
                          <a:solidFill>
                            <a:srgbClr val="163047"/>
                          </a:solidFill>
                          <a:latin typeface="Arial"/>
                          <a:ea typeface="Arial"/>
                          <a:cs typeface="Arial"/>
                        </a:rPr>
                        <a:t>notes</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TEXT</a:t>
                      </a:r>
                    </a:p>
                  </a:txBody>
                  <a:tcPr marL="91440" marR="91440" marT="45720" marB="45720">
                    <a:lnR w="9525">
                      <a:solidFill>
                        <a:srgbClr val="CCD9DE"/>
                      </a:solidFill>
                      <a:prstDash val="solid"/>
                    </a:lnR>
                    <a:lnB w="9525">
                      <a:solidFill>
                        <a:srgbClr val="CCD9DE"/>
                      </a:solidFill>
                      <a:prstDash val="solid"/>
                    </a:lnB>
                    <a:solidFill>
                      <a:srgbClr val="FFFFFF"/>
                    </a:solidFill>
                  </a:tcPr>
                </a:tc>
              </a:tr>
              <a:tr h="469446">
                <a:tc>
                  <a:txBody>
                    <a:bodyPr/>
                    <a:lstStyle/>
                    <a:p>
                      <a:r>
                        <a:rPr sz="1725" b="0">
                          <a:solidFill>
                            <a:srgbClr val="163047"/>
                          </a:solidFill>
                          <a:latin typeface="Arial"/>
                          <a:ea typeface="Arial"/>
                          <a:cs typeface="Arial"/>
                        </a:rPr>
                        <a:t>updated_at</a:t>
                      </a:r>
                    </a:p>
                  </a:txBody>
                  <a:tcPr marL="91440" marR="91440" marT="45720" marB="45720">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63047"/>
                          </a:solidFill>
                          <a:latin typeface="Arial"/>
                          <a:ea typeface="Arial"/>
                          <a:cs typeface="Arial"/>
                        </a:rPr>
                        <a:t>TEXT UTC timestamp</a:t>
                      </a:r>
                    </a:p>
                  </a:txBody>
                  <a:tcPr marL="91440" marR="91440" marT="45720" marB="45720">
                    <a:lnR w="9525">
                      <a:solidFill>
                        <a:srgbClr val="CCD9DE"/>
                      </a:solidFill>
                      <a:prstDash val="solid"/>
                    </a:lnR>
                    <a:lnB w="9525">
                      <a:solidFill>
                        <a:srgbClr val="CCD9DE"/>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61E77DC-783C-49C5-ADA7-9FAFC74D27B0}"/>
              </a:ext>
            </a:extLst>
          </p:cNvPr>
          <p:cNvSpPr>
            <a:spLocks xmlns:a="http://schemas.openxmlformats.org/drawingml/2006/main" noGrp="1"/>
          </p:cNvSpPr>
          <p:nvPr/>
        </p:nvSpPr>
        <p:spPr>
          <a:xfrm xmlns:a="http://schemas.openxmlformats.org/drawingml/2006/main">
            <a:off x="4762500" y="5238750"/>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F70"/>
                </a:solidFill>
                <a:latin typeface="Arial"/>
                <a:ea typeface="Arial"/>
                <a:cs typeface="Arial"/>
              </a:defRPr>
            </a:defPPr>
          </a:lstStyle>
          <a:p xmlns:a="http://schemas.openxmlformats.org/drawingml/2006/main">
            <a:pPr>
              <a:defRPr sz="2100" b="1">
                <a:solidFill>
                  <a:srgbClr val="006F70"/>
                </a:solidFill>
              </a:defRPr>
            </a:pPr>
            <a:r>
              <a:rPr sz="2100" b="1">
                <a:solidFill>
                  <a:srgbClr val="006F70"/>
                </a:solidFill>
                <a:latin typeface="Arial"/>
                <a:ea typeface="Arial"/>
                <a:cs typeface="Arial"/>
              </a:rPr>
              <a:t>Unique key: course_id + student_id + attendance_date</a:t>
            </a:r>
          </a:p>
        </p:txBody>
      </p:sp>
      <p:sp>
        <p:nvSpPr>
          <p:cNvPr id="8" name="">
            <a:extLst xmlns:a="http://schemas.openxmlformats.org/drawingml/2006/main">
              <a:ext uri="{FF2B5EF4-FFF2-40B4-BE49-F238E27FC236}">
                <a16:creationId xmlns:a16="http://schemas.microsoft.com/office/drawing/2014/main" id="{06D74CE6-7747-4575-93F0-80323AD8B5F7}"/>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Gera   6:00-7:15</a:t>
            </a:r>
          </a:p>
        </p:txBody>
      </p:sp>
    </p:spTree>
    <p:extLst>
      <p:ext uri="{BB962C8B-B14F-4D97-AF65-F5344CB8AC3E}">
        <p14:creationId xmlns:p14="http://schemas.microsoft.com/office/powerpoint/2010/main" val="17808038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268DD62-264D-4B5E-8654-74FC342730B8}"/>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Validation and storage checks</a:t>
            </a:r>
          </a:p>
        </p:txBody>
      </p:sp>
      <p:sp>
        <p:nvSpPr>
          <p:cNvPr id="3" name="">
            <a:extLst xmlns:a="http://schemas.openxmlformats.org/drawingml/2006/main">
              <a:ext uri="{FF2B5EF4-FFF2-40B4-BE49-F238E27FC236}">
                <a16:creationId xmlns:a16="http://schemas.microsoft.com/office/drawing/2014/main" id="{9CBC0814-7EA5-4752-A794-CD43BF9B9DFF}"/>
              </a:ext>
            </a:extLst>
          </p:cNvPr>
          <p:cNvSpPr>
            <a:spLocks xmlns:a="http://schemas.openxmlformats.org/drawingml/2006/main" noGrp="1"/>
          </p:cNvSpPr>
          <p:nvPr/>
        </p:nvSpPr>
        <p:spPr>
          <a:xfrm xmlns:a="http://schemas.openxmlformats.org/drawingml/2006/main">
            <a:off x="666750" y="15716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047"/>
                </a:solidFill>
                <a:latin typeface="Arial"/>
                <a:ea typeface="Arial"/>
                <a:cs typeface="Arial"/>
              </a:defRPr>
            </a:defPPr>
          </a:lstStyle>
          <a:p xmlns:a="http://schemas.openxmlformats.org/drawingml/2006/main">
            <a:pPr>
              <a:defRPr sz="2175" b="1">
                <a:solidFill>
                  <a:srgbClr val="163047"/>
                </a:solidFill>
              </a:defRPr>
            </a:pPr>
            <a:r>
              <a:rPr sz="2175" b="1">
                <a:solidFill>
                  <a:srgbClr val="163047"/>
                </a:solidFill>
                <a:latin typeface="Arial"/>
                <a:ea typeface="Arial"/>
                <a:cs typeface="Arial"/>
              </a:rPr>
              <a:t>Course and student IDs: 1-50 characters after trimming</a:t>
            </a:r>
          </a:p>
        </p:txBody>
      </p:sp>
      <p:sp>
        <p:nvSpPr>
          <p:cNvPr id="4" name="">
            <a:extLst xmlns:a="http://schemas.openxmlformats.org/drawingml/2006/main">
              <a:ext uri="{FF2B5EF4-FFF2-40B4-BE49-F238E27FC236}">
                <a16:creationId xmlns:a16="http://schemas.microsoft.com/office/drawing/2014/main" id="{BD73E11C-82D1-45A0-952D-4D33DF8FF902}"/>
              </a:ext>
            </a:extLst>
          </p:cNvPr>
          <p:cNvSpPr>
            <a:spLocks xmlns:a="http://schemas.openxmlformats.org/drawingml/2006/main" noGrp="1"/>
          </p:cNvSpPr>
          <p:nvPr/>
        </p:nvSpPr>
        <p:spPr>
          <a:xfrm xmlns:a="http://schemas.openxmlformats.org/drawingml/2006/main">
            <a:off x="666750" y="23526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Real calendar date and one allowed attendance status</a:t>
            </a:r>
          </a:p>
        </p:txBody>
      </p:sp>
      <p:sp>
        <p:nvSpPr>
          <p:cNvPr id="5" name="">
            <a:extLst xmlns:a="http://schemas.openxmlformats.org/drawingml/2006/main">
              <a:ext uri="{FF2B5EF4-FFF2-40B4-BE49-F238E27FC236}">
                <a16:creationId xmlns:a16="http://schemas.microsoft.com/office/drawing/2014/main" id="{768C6888-1BDB-4643-A6A2-6A5CD10A9FA9}"/>
              </a:ext>
            </a:extLst>
          </p:cNvPr>
          <p:cNvSpPr>
            <a:spLocks xmlns:a="http://schemas.openxmlformats.org/drawingml/2006/main" noGrp="1"/>
          </p:cNvSpPr>
          <p:nvPr/>
        </p:nvSpPr>
        <p:spPr>
          <a:xfrm xmlns:a="http://schemas.openxmlformats.org/drawingml/2006/main">
            <a:off x="666750" y="31337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Optional notes: up to 300 characters</a:t>
            </a:r>
          </a:p>
        </p:txBody>
      </p:sp>
      <p:sp>
        <p:nvSpPr>
          <p:cNvPr id="6" name="">
            <a:extLst xmlns:a="http://schemas.openxmlformats.org/drawingml/2006/main">
              <a:ext uri="{FF2B5EF4-FFF2-40B4-BE49-F238E27FC236}">
                <a16:creationId xmlns:a16="http://schemas.microsoft.com/office/drawing/2014/main" id="{818E28C8-E030-43BB-9150-9E225B7C7D8A}"/>
              </a:ext>
            </a:extLst>
          </p:cNvPr>
          <p:cNvSpPr>
            <a:spLocks xmlns:a="http://schemas.openxmlformats.org/drawingml/2006/main" noGrp="1"/>
          </p:cNvSpPr>
          <p:nvPr/>
        </p:nvSpPr>
        <p:spPr>
          <a:xfrm xmlns:a="http://schemas.openxmlformats.org/drawingml/2006/main">
            <a:off x="666750" y="39147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Bound SQL parameters and escaped HTML output</a:t>
            </a:r>
          </a:p>
        </p:txBody>
      </p:sp>
      <p:sp>
        <p:nvSpPr>
          <p:cNvPr id="7" name="">
            <a:extLst xmlns:a="http://schemas.openxmlformats.org/drawingml/2006/main">
              <a:ext uri="{FF2B5EF4-FFF2-40B4-BE49-F238E27FC236}">
                <a16:creationId xmlns:a16="http://schemas.microsoft.com/office/drawing/2014/main" id="{C51A0A18-98DF-4389-95EA-963B221AC1B6}"/>
              </a:ext>
            </a:extLst>
          </p:cNvPr>
          <p:cNvSpPr>
            <a:spLocks xmlns:a="http://schemas.openxmlformats.org/drawingml/2006/main" noGrp="1"/>
          </p:cNvSpPr>
          <p:nvPr/>
        </p:nvSpPr>
        <p:spPr>
          <a:xfrm xmlns:a="http://schemas.openxmlformats.org/drawingml/2006/main">
            <a:off x="666750" y="46958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Storage failure returns a readable error</a:t>
            </a:r>
          </a:p>
        </p:txBody>
      </p:sp>
      <p:sp>
        <p:nvSpPr>
          <p:cNvPr id="8" name="">
            <a:extLst xmlns:a="http://schemas.openxmlformats.org/drawingml/2006/main">
              <a:ext uri="{FF2B5EF4-FFF2-40B4-BE49-F238E27FC236}">
                <a16:creationId xmlns:a16="http://schemas.microsoft.com/office/drawing/2014/main" id="{04A7A3C1-6F3A-4C3E-8337-623D99762FEF}"/>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Gera   7:15-8:00</a:t>
            </a:r>
          </a:p>
        </p:txBody>
      </p:sp>
    </p:spTree>
    <p:extLst>
      <p:ext uri="{BB962C8B-B14F-4D97-AF65-F5344CB8AC3E}">
        <p14:creationId xmlns:p14="http://schemas.microsoft.com/office/powerpoint/2010/main" val="1880663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551613-9D5A-4181-BA70-9CCEC7882BB3}"/>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History filters and API design</a:t>
            </a:r>
          </a:p>
        </p:txBody>
      </p:sp>
      <p:sp>
        <p:nvSpPr>
          <p:cNvPr id="3" name="">
            <a:extLst xmlns:a="http://schemas.openxmlformats.org/drawingml/2006/main">
              <a:ext uri="{FF2B5EF4-FFF2-40B4-BE49-F238E27FC236}">
                <a16:creationId xmlns:a16="http://schemas.microsoft.com/office/drawing/2014/main" id="{FC559C52-C3F1-41B0-B730-BBE39792AB96}"/>
              </a:ext>
            </a:extLst>
          </p:cNvPr>
          <p:cNvSpPr>
            <a:spLocks xmlns:a="http://schemas.openxmlformats.org/drawingml/2006/main" noGrp="1"/>
          </p:cNvSpPr>
          <p:nvPr/>
        </p:nvSpPr>
        <p:spPr>
          <a:xfrm xmlns:a="http://schemas.openxmlformats.org/drawingml/2006/main">
            <a:off x="666750" y="15716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3047"/>
                </a:solidFill>
                <a:latin typeface="Arial"/>
                <a:ea typeface="Arial"/>
                <a:cs typeface="Arial"/>
              </a:defRPr>
            </a:defPPr>
          </a:lstStyle>
          <a:p xmlns:a="http://schemas.openxmlformats.org/drawingml/2006/main">
            <a:pPr>
              <a:defRPr sz="2025" b="1">
                <a:solidFill>
                  <a:srgbClr val="163047"/>
                </a:solidFill>
              </a:defRPr>
            </a:pPr>
            <a:r>
              <a:rPr sz="2025" b="1">
                <a:solidFill>
                  <a:srgbClr val="163047"/>
                </a:solidFill>
                <a:latin typeface="Arial"/>
                <a:ea typeface="Arial"/>
                <a:cs typeface="Arial"/>
              </a:rPr>
              <a:t>GET /10-attendance/history serves the history interface</a:t>
            </a:r>
          </a:p>
        </p:txBody>
      </p:sp>
      <p:sp>
        <p:nvSpPr>
          <p:cNvPr id="4" name="">
            <a:extLst xmlns:a="http://schemas.openxmlformats.org/drawingml/2006/main">
              <a:ext uri="{FF2B5EF4-FFF2-40B4-BE49-F238E27FC236}">
                <a16:creationId xmlns:a16="http://schemas.microsoft.com/office/drawing/2014/main" id="{C7B25AEB-6C46-4D80-9564-7AF995168C65}"/>
              </a:ext>
            </a:extLst>
          </p:cNvPr>
          <p:cNvSpPr>
            <a:spLocks xmlns:a="http://schemas.openxmlformats.org/drawingml/2006/main" noGrp="1"/>
          </p:cNvSpPr>
          <p:nvPr/>
        </p:nvSpPr>
        <p:spPr>
          <a:xfrm xmlns:a="http://schemas.openxmlformats.org/drawingml/2006/main">
            <a:off x="666750" y="23526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047"/>
                </a:solidFill>
                <a:latin typeface="Arial"/>
                <a:ea typeface="Arial"/>
                <a:cs typeface="Arial"/>
              </a:defRPr>
            </a:defPPr>
          </a:lstStyle>
          <a:p xmlns:a="http://schemas.openxmlformats.org/drawingml/2006/main">
            <a:pPr>
              <a:defRPr sz="2025" b="0">
                <a:solidFill>
                  <a:srgbClr val="163047"/>
                </a:solidFill>
              </a:defRPr>
            </a:pPr>
            <a:r>
              <a:rPr sz="2025" b="0">
                <a:solidFill>
                  <a:srgbClr val="163047"/>
                </a:solidFill>
                <a:latin typeface="Arial"/>
                <a:ea typeface="Arial"/>
                <a:cs typeface="Arial"/>
              </a:rPr>
              <a:t>GET /10-attendance/api/attendance returns matching records</a:t>
            </a:r>
          </a:p>
        </p:txBody>
      </p:sp>
      <p:sp>
        <p:nvSpPr>
          <p:cNvPr id="5" name="">
            <a:extLst xmlns:a="http://schemas.openxmlformats.org/drawingml/2006/main">
              <a:ext uri="{FF2B5EF4-FFF2-40B4-BE49-F238E27FC236}">
                <a16:creationId xmlns:a16="http://schemas.microsoft.com/office/drawing/2014/main" id="{34F771B5-DB8B-4E17-9680-CD6AADCACEA5}"/>
              </a:ext>
            </a:extLst>
          </p:cNvPr>
          <p:cNvSpPr>
            <a:spLocks xmlns:a="http://schemas.openxmlformats.org/drawingml/2006/main" noGrp="1"/>
          </p:cNvSpPr>
          <p:nvPr/>
        </p:nvSpPr>
        <p:spPr>
          <a:xfrm xmlns:a="http://schemas.openxmlformats.org/drawingml/2006/main">
            <a:off x="666750" y="31337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047"/>
                </a:solidFill>
                <a:latin typeface="Arial"/>
                <a:ea typeface="Arial"/>
                <a:cs typeface="Arial"/>
              </a:defRPr>
            </a:defPPr>
          </a:lstStyle>
          <a:p xmlns:a="http://schemas.openxmlformats.org/drawingml/2006/main">
            <a:pPr>
              <a:defRPr sz="2025" b="0">
                <a:solidFill>
                  <a:srgbClr val="163047"/>
                </a:solidFill>
              </a:defRPr>
            </a:pPr>
            <a:r>
              <a:rPr sz="2025" b="0">
                <a:solidFill>
                  <a:srgbClr val="163047"/>
                </a:solidFill>
                <a:latin typeface="Arial"/>
                <a:ea typeface="Arial"/>
                <a:cs typeface="Arial"/>
              </a:rPr>
              <a:t>POST /10-attendance/api/attendance saves or corrects a mark</a:t>
            </a:r>
          </a:p>
        </p:txBody>
      </p:sp>
      <p:sp>
        <p:nvSpPr>
          <p:cNvPr id="6" name="">
            <a:extLst xmlns:a="http://schemas.openxmlformats.org/drawingml/2006/main">
              <a:ext uri="{FF2B5EF4-FFF2-40B4-BE49-F238E27FC236}">
                <a16:creationId xmlns:a16="http://schemas.microsoft.com/office/drawing/2014/main" id="{C3B38200-7B67-47D4-B165-6A692DC7A7E8}"/>
              </a:ext>
            </a:extLst>
          </p:cNvPr>
          <p:cNvSpPr>
            <a:spLocks xmlns:a="http://schemas.openxmlformats.org/drawingml/2006/main" noGrp="1"/>
          </p:cNvSpPr>
          <p:nvPr/>
        </p:nvSpPr>
        <p:spPr>
          <a:xfrm xmlns:a="http://schemas.openxmlformats.org/drawingml/2006/main">
            <a:off x="666750" y="39147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047"/>
                </a:solidFill>
                <a:latin typeface="Arial"/>
                <a:ea typeface="Arial"/>
                <a:cs typeface="Arial"/>
              </a:defRPr>
            </a:defPPr>
          </a:lstStyle>
          <a:p xmlns:a="http://schemas.openxmlformats.org/drawingml/2006/main">
            <a:pPr>
              <a:defRPr sz="2025" b="0">
                <a:solidFill>
                  <a:srgbClr val="163047"/>
                </a:solidFill>
              </a:defRPr>
            </a:pPr>
            <a:r>
              <a:rPr sz="2025" b="0">
                <a:solidFill>
                  <a:srgbClr val="163047"/>
                </a:solidFill>
                <a:latin typeface="Arial"/>
                <a:ea typeface="Arial"/>
                <a:cs typeface="Arial"/>
              </a:rPr>
              <a:t>Filters: exact course/student IDs and inclusive from/to dates</a:t>
            </a:r>
          </a:p>
        </p:txBody>
      </p:sp>
      <p:sp>
        <p:nvSpPr>
          <p:cNvPr id="7" name="">
            <a:extLst xmlns:a="http://schemas.openxmlformats.org/drawingml/2006/main">
              <a:ext uri="{FF2B5EF4-FFF2-40B4-BE49-F238E27FC236}">
                <a16:creationId xmlns:a16="http://schemas.microsoft.com/office/drawing/2014/main" id="{3859117E-EFEB-4865-8CCB-5B7C74DDCC76}"/>
              </a:ext>
            </a:extLst>
          </p:cNvPr>
          <p:cNvSpPr>
            <a:spLocks xmlns:a="http://schemas.openxmlformats.org/drawingml/2006/main" noGrp="1"/>
          </p:cNvSpPr>
          <p:nvPr/>
        </p:nvSpPr>
        <p:spPr>
          <a:xfrm xmlns:a="http://schemas.openxmlformats.org/drawingml/2006/main">
            <a:off x="666750" y="46958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047"/>
                </a:solidFill>
                <a:latin typeface="Arial"/>
                <a:ea typeface="Arial"/>
                <a:cs typeface="Arial"/>
              </a:defRPr>
            </a:defPPr>
          </a:lstStyle>
          <a:p xmlns:a="http://schemas.openxmlformats.org/drawingml/2006/main">
            <a:pPr>
              <a:defRPr sz="2025" b="0">
                <a:solidFill>
                  <a:srgbClr val="163047"/>
                </a:solidFill>
              </a:defRPr>
            </a:pPr>
            <a:r>
              <a:rPr sz="2025" b="0">
                <a:solidFill>
                  <a:srgbClr val="163047"/>
                </a:solidFill>
                <a:latin typeface="Arial"/>
                <a:ea typeface="Arial"/>
                <a:cs typeface="Arial"/>
              </a:rPr>
              <a:t>Success 200, invalid input 422, storage failure 503</a:t>
            </a:r>
          </a:p>
        </p:txBody>
      </p:sp>
      <p:sp>
        <p:nvSpPr>
          <p:cNvPr id="8" name="">
            <a:extLst xmlns:a="http://schemas.openxmlformats.org/drawingml/2006/main">
              <a:ext uri="{FF2B5EF4-FFF2-40B4-BE49-F238E27FC236}">
                <a16:creationId xmlns:a16="http://schemas.microsoft.com/office/drawing/2014/main" id="{E4678067-0552-4BB8-9602-9ACE38F4CACF}"/>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Nasir   8:00-9:00</a:t>
            </a:r>
          </a:p>
        </p:txBody>
      </p:sp>
    </p:spTree>
    <p:extLst>
      <p:ext uri="{BB962C8B-B14F-4D97-AF65-F5344CB8AC3E}">
        <p14:creationId xmlns:p14="http://schemas.microsoft.com/office/powerpoint/2010/main" val="4176844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BD6E66E-A24D-474A-A5AC-C5282F9CC7A1}"/>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GitHub and regression evidence</a:t>
            </a:r>
          </a:p>
        </p:txBody>
      </p:sp>
      <p:sp>
        <p:nvSpPr>
          <p:cNvPr id="3" name="">
            <a:extLst xmlns:a="http://schemas.openxmlformats.org/drawingml/2006/main">
              <a:ext uri="{FF2B5EF4-FFF2-40B4-BE49-F238E27FC236}">
                <a16:creationId xmlns:a16="http://schemas.microsoft.com/office/drawing/2014/main" id="{36C5695D-8D5A-42CB-B00C-6FE39F8A5445}"/>
              </a:ext>
            </a:extLst>
          </p:cNvPr>
          <p:cNvSpPr>
            <a:spLocks xmlns:a="http://schemas.openxmlformats.org/drawingml/2006/main" noGrp="1"/>
          </p:cNvSpPr>
          <p:nvPr/>
        </p:nvSpPr>
        <p:spPr>
          <a:xfrm xmlns:a="http://schemas.openxmlformats.org/drawingml/2006/main">
            <a:off x="666750" y="15716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047"/>
                </a:solidFill>
                <a:latin typeface="Arial"/>
                <a:ea typeface="Arial"/>
                <a:cs typeface="Arial"/>
              </a:defRPr>
            </a:defPPr>
          </a:lstStyle>
          <a:p xmlns:a="http://schemas.openxmlformats.org/drawingml/2006/main">
            <a:pPr>
              <a:defRPr sz="2175" b="1">
                <a:solidFill>
                  <a:srgbClr val="163047"/>
                </a:solidFill>
              </a:defRPr>
            </a:pPr>
            <a:r>
              <a:rPr sz="2175" b="1">
                <a:solidFill>
                  <a:srgbClr val="163047"/>
                </a:solidFill>
                <a:latin typeface="Arial"/>
                <a:ea typeface="Arial"/>
                <a:cs typeface="Arial"/>
              </a:rPr>
              <a:t>Fork: Arda190777/C3L</a:t>
            </a:r>
          </a:p>
        </p:txBody>
      </p:sp>
      <p:sp>
        <p:nvSpPr>
          <p:cNvPr id="4" name="">
            <a:extLst xmlns:a="http://schemas.openxmlformats.org/drawingml/2006/main">
              <a:ext uri="{FF2B5EF4-FFF2-40B4-BE49-F238E27FC236}">
                <a16:creationId xmlns:a16="http://schemas.microsoft.com/office/drawing/2014/main" id="{6530D7B5-D1ED-4ECB-B6BB-0014D3F18B94}"/>
              </a:ext>
            </a:extLst>
          </p:cNvPr>
          <p:cNvSpPr>
            <a:spLocks xmlns:a="http://schemas.openxmlformats.org/drawingml/2006/main" noGrp="1"/>
          </p:cNvSpPr>
          <p:nvPr/>
        </p:nvSpPr>
        <p:spPr>
          <a:xfrm xmlns:a="http://schemas.openxmlformats.org/drawingml/2006/main">
            <a:off x="666750" y="22098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Branch: feature/attendance-sprint-1</a:t>
            </a:r>
          </a:p>
        </p:txBody>
      </p:sp>
      <p:sp>
        <p:nvSpPr>
          <p:cNvPr id="5" name="">
            <a:extLst xmlns:a="http://schemas.openxmlformats.org/drawingml/2006/main">
              <a:ext uri="{FF2B5EF4-FFF2-40B4-BE49-F238E27FC236}">
                <a16:creationId xmlns:a16="http://schemas.microsoft.com/office/drawing/2014/main" id="{7E1D5C5F-3BD8-4209-93D3-38F9E7BB6A9B}"/>
              </a:ext>
            </a:extLst>
          </p:cNvPr>
          <p:cNvSpPr>
            <a:spLocks xmlns:a="http://schemas.openxmlformats.org/drawingml/2006/main" noGrp="1"/>
          </p:cNvSpPr>
          <p:nvPr/>
        </p:nvSpPr>
        <p:spPr>
          <a:xfrm xmlns:a="http://schemas.openxmlformats.org/drawingml/2006/main">
            <a:off x="666750" y="28479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Issues and Sprint 1 milestone track the work</a:t>
            </a:r>
          </a:p>
        </p:txBody>
      </p:sp>
      <p:sp>
        <p:nvSpPr>
          <p:cNvPr id="6" name="">
            <a:extLst xmlns:a="http://schemas.openxmlformats.org/drawingml/2006/main">
              <a:ext uri="{FF2B5EF4-FFF2-40B4-BE49-F238E27FC236}">
                <a16:creationId xmlns:a16="http://schemas.microsoft.com/office/drawing/2014/main" id="{B4CCC7CB-0D22-4813-90AA-514FF45967E8}"/>
              </a:ext>
            </a:extLst>
          </p:cNvPr>
          <p:cNvSpPr>
            <a:spLocks xmlns:a="http://schemas.openxmlformats.org/drawingml/2006/main" noGrp="1"/>
          </p:cNvSpPr>
          <p:nvPr/>
        </p:nvSpPr>
        <p:spPr>
          <a:xfrm xmlns:a="http://schemas.openxmlformats.org/drawingml/2006/main">
            <a:off x="666750" y="34861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PR #7 remains open for actual teammate review</a:t>
            </a:r>
          </a:p>
        </p:txBody>
      </p:sp>
      <p:sp>
        <p:nvSpPr>
          <p:cNvPr id="7" name="">
            <a:extLst xmlns:a="http://schemas.openxmlformats.org/drawingml/2006/main">
              <a:ext uri="{FF2B5EF4-FFF2-40B4-BE49-F238E27FC236}">
                <a16:creationId xmlns:a16="http://schemas.microsoft.com/office/drawing/2014/main" id="{6B98928A-39A0-44F0-BBC5-86D70050D2F6}"/>
              </a:ext>
            </a:extLst>
          </p:cNvPr>
          <p:cNvSpPr>
            <a:spLocks xmlns:a="http://schemas.openxmlformats.org/drawingml/2006/main" noGrp="1"/>
          </p:cNvSpPr>
          <p:nvPr/>
        </p:nvSpPr>
        <p:spPr>
          <a:xfrm xmlns:a="http://schemas.openxmlformats.org/drawingml/2006/main">
            <a:off x="666750" y="41243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25 module tests and 81 repository tests passed</a:t>
            </a:r>
          </a:p>
        </p:txBody>
      </p:sp>
      <p:sp>
        <p:nvSpPr>
          <p:cNvPr id="8" name="">
            <a:extLst xmlns:a="http://schemas.openxmlformats.org/drawingml/2006/main">
              <a:ext uri="{FF2B5EF4-FFF2-40B4-BE49-F238E27FC236}">
                <a16:creationId xmlns:a16="http://schemas.microsoft.com/office/drawing/2014/main" id="{C9D31F90-F2EF-4AE0-B0DE-48CDC0AB90BB}"/>
              </a:ext>
            </a:extLst>
          </p:cNvPr>
          <p:cNvSpPr>
            <a:spLocks xmlns:a="http://schemas.openxmlformats.org/drawingml/2006/main" noGrp="1"/>
          </p:cNvSpPr>
          <p:nvPr/>
        </p:nvSpPr>
        <p:spPr>
          <a:xfrm xmlns:a="http://schemas.openxmlformats.org/drawingml/2006/main">
            <a:off x="666750" y="47625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All 12 module sanity checks passed</a:t>
            </a:r>
          </a:p>
        </p:txBody>
      </p:sp>
      <p:sp>
        <p:nvSpPr>
          <p:cNvPr id="9" name="">
            <a:extLst xmlns:a="http://schemas.openxmlformats.org/drawingml/2006/main">
              <a:ext uri="{FF2B5EF4-FFF2-40B4-BE49-F238E27FC236}">
                <a16:creationId xmlns:a16="http://schemas.microsoft.com/office/drawing/2014/main" id="{737C96C2-8917-42C7-9D6D-769258B14C10}"/>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Nasir   9:00-10:45</a:t>
            </a:r>
          </a:p>
        </p:txBody>
      </p:sp>
    </p:spTree>
    <p:extLst>
      <p:ext uri="{BB962C8B-B14F-4D97-AF65-F5344CB8AC3E}">
        <p14:creationId xmlns:p14="http://schemas.microsoft.com/office/powerpoint/2010/main" val="14812517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0B99ABD-7E09-4400-8450-1FBCB917EDD6}"/>
              </a:ext>
            </a:extLst>
          </p:cNvPr>
          <p:cNvSpPr>
            <a:spLocks xmlns:a="http://schemas.openxmlformats.org/drawingml/2006/main" noGrp="1"/>
          </p:cNvSpPr>
          <p:nvPr/>
        </p:nvSpPr>
        <p:spPr>
          <a:xfrm xmlns:a="http://schemas.openxmlformats.org/drawingml/2006/main">
            <a:off x="60960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047"/>
                </a:solidFill>
                <a:latin typeface="Arial"/>
                <a:ea typeface="Arial"/>
                <a:cs typeface="Arial"/>
              </a:defRPr>
            </a:defPPr>
          </a:lstStyle>
          <a:p xmlns:a="http://schemas.openxmlformats.org/drawingml/2006/main">
            <a:pPr>
              <a:defRPr sz="3300" b="1">
                <a:solidFill>
                  <a:srgbClr val="163047"/>
                </a:solidFill>
              </a:defRPr>
            </a:pPr>
            <a:r>
              <a:rPr sz="3300" b="1">
                <a:solidFill>
                  <a:srgbClr val="163047"/>
                </a:solidFill>
                <a:latin typeface="Arial"/>
                <a:ea typeface="Arial"/>
                <a:cs typeface="Arial"/>
              </a:rPr>
              <a:t>Next sprint and remaining hand-in work</a:t>
            </a:r>
          </a:p>
        </p:txBody>
      </p:sp>
      <p:sp>
        <p:nvSpPr>
          <p:cNvPr id="3" name="">
            <a:extLst xmlns:a="http://schemas.openxmlformats.org/drawingml/2006/main">
              <a:ext uri="{FF2B5EF4-FFF2-40B4-BE49-F238E27FC236}">
                <a16:creationId xmlns:a16="http://schemas.microsoft.com/office/drawing/2014/main" id="{7A8319DB-6167-4848-9CFF-8DF686D668C6}"/>
              </a:ext>
            </a:extLst>
          </p:cNvPr>
          <p:cNvSpPr>
            <a:spLocks xmlns:a="http://schemas.openxmlformats.org/drawingml/2006/main" noGrp="1"/>
          </p:cNvSpPr>
          <p:nvPr/>
        </p:nvSpPr>
        <p:spPr>
          <a:xfrm xmlns:a="http://schemas.openxmlformats.org/drawingml/2006/main">
            <a:off x="666750" y="15716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3047"/>
                </a:solidFill>
                <a:latin typeface="Arial"/>
                <a:ea typeface="Arial"/>
                <a:cs typeface="Arial"/>
              </a:defRPr>
            </a:defPPr>
          </a:lstStyle>
          <a:p xmlns:a="http://schemas.openxmlformats.org/drawingml/2006/main">
            <a:pPr>
              <a:defRPr sz="2175" b="1">
                <a:solidFill>
                  <a:srgbClr val="163047"/>
                </a:solidFill>
              </a:defRPr>
            </a:pPr>
            <a:r>
              <a:rPr sz="2175" b="1">
                <a:solidFill>
                  <a:srgbClr val="163047"/>
                </a:solidFill>
                <a:latin typeface="Arial"/>
                <a:ea typeface="Arial"/>
                <a:cs typeface="Arial"/>
              </a:rPr>
              <a:t>Before hand-in: peer review, shared SRS update and team verification</a:t>
            </a:r>
          </a:p>
        </p:txBody>
      </p:sp>
      <p:sp>
        <p:nvSpPr>
          <p:cNvPr id="4" name="">
            <a:extLst xmlns:a="http://schemas.openxmlformats.org/drawingml/2006/main">
              <a:ext uri="{FF2B5EF4-FFF2-40B4-BE49-F238E27FC236}">
                <a16:creationId xmlns:a16="http://schemas.microsoft.com/office/drawing/2014/main" id="{4711700B-F6FF-49EE-A154-B89B13E65F0E}"/>
              </a:ext>
            </a:extLst>
          </p:cNvPr>
          <p:cNvSpPr>
            <a:spLocks xmlns:a="http://schemas.openxmlformats.org/drawingml/2006/main" noGrp="1"/>
          </p:cNvSpPr>
          <p:nvPr/>
        </p:nvSpPr>
        <p:spPr>
          <a:xfrm xmlns:a="http://schemas.openxmlformats.org/drawingml/2006/main">
            <a:off x="666750" y="23526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Prepared files: Sprint Input, Release Note, design HTML and test evidence</a:t>
            </a:r>
          </a:p>
        </p:txBody>
      </p:sp>
      <p:sp>
        <p:nvSpPr>
          <p:cNvPr id="5" name="">
            <a:extLst xmlns:a="http://schemas.openxmlformats.org/drawingml/2006/main">
              <a:ext uri="{FF2B5EF4-FFF2-40B4-BE49-F238E27FC236}">
                <a16:creationId xmlns:a16="http://schemas.microsoft.com/office/drawing/2014/main" id="{2252E747-4416-4620-9437-73B4F920229D}"/>
              </a:ext>
            </a:extLst>
          </p:cNvPr>
          <p:cNvSpPr>
            <a:spLocks xmlns:a="http://schemas.openxmlformats.org/drawingml/2006/main" noGrp="1"/>
          </p:cNvSpPr>
          <p:nvPr/>
        </p:nvSpPr>
        <p:spPr>
          <a:xfrm xmlns:a="http://schemas.openxmlformats.org/drawingml/2006/main">
            <a:off x="666750" y="31337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Proposed Sprint 2: agree identity/course integration and participation rules</a:t>
            </a:r>
          </a:p>
        </p:txBody>
      </p:sp>
      <p:sp>
        <p:nvSpPr>
          <p:cNvPr id="6" name="">
            <a:extLst xmlns:a="http://schemas.openxmlformats.org/drawingml/2006/main">
              <a:ext uri="{FF2B5EF4-FFF2-40B4-BE49-F238E27FC236}">
                <a16:creationId xmlns:a16="http://schemas.microsoft.com/office/drawing/2014/main" id="{BF00737F-44B6-49D3-8BC2-111BEA92CA77}"/>
              </a:ext>
            </a:extLst>
          </p:cNvPr>
          <p:cNvSpPr>
            <a:spLocks xmlns:a="http://schemas.openxmlformats.org/drawingml/2006/main" noGrp="1"/>
          </p:cNvSpPr>
          <p:nvPr/>
        </p:nvSpPr>
        <p:spPr>
          <a:xfrm xmlns:a="http://schemas.openxmlformats.org/drawingml/2006/main">
            <a:off x="666750" y="391477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Reports and statistics remain in the product backlog</a:t>
            </a:r>
          </a:p>
        </p:txBody>
      </p:sp>
      <p:sp>
        <p:nvSpPr>
          <p:cNvPr id="7" name="">
            <a:extLst xmlns:a="http://schemas.openxmlformats.org/drawingml/2006/main">
              <a:ext uri="{FF2B5EF4-FFF2-40B4-BE49-F238E27FC236}">
                <a16:creationId xmlns:a16="http://schemas.microsoft.com/office/drawing/2014/main" id="{CA6C77A6-368D-4E90-971C-275D0607F698}"/>
              </a:ext>
            </a:extLst>
          </p:cNvPr>
          <p:cNvSpPr>
            <a:spLocks xmlns:a="http://schemas.openxmlformats.org/drawingml/2006/main" noGrp="1"/>
          </p:cNvSpPr>
          <p:nvPr/>
        </p:nvSpPr>
        <p:spPr>
          <a:xfrm xmlns:a="http://schemas.openxmlformats.org/drawingml/2006/main">
            <a:off x="666750" y="4695825"/>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047"/>
                </a:solidFill>
                <a:latin typeface="Arial"/>
                <a:ea typeface="Arial"/>
                <a:cs typeface="Arial"/>
              </a:defRPr>
            </a:defPPr>
          </a:lstStyle>
          <a:p xmlns:a="http://schemas.openxmlformats.org/drawingml/2006/main">
            <a:pPr>
              <a:defRPr sz="2175" b="0">
                <a:solidFill>
                  <a:srgbClr val="163047"/>
                </a:solidFill>
              </a:defRPr>
            </a:pPr>
            <a:r>
              <a:rPr sz="2175" b="0">
                <a:solidFill>
                  <a:srgbClr val="163047"/>
                </a:solidFill>
                <a:latin typeface="Arial"/>
                <a:ea typeface="Arial"/>
                <a:cs typeface="Arial"/>
              </a:rPr>
              <a:t>Questions</a:t>
            </a:r>
          </a:p>
        </p:txBody>
      </p:sp>
      <p:sp>
        <p:nvSpPr>
          <p:cNvPr id="8" name="">
            <a:extLst xmlns:a="http://schemas.openxmlformats.org/drawingml/2006/main">
              <a:ext uri="{FF2B5EF4-FFF2-40B4-BE49-F238E27FC236}">
                <a16:creationId xmlns:a16="http://schemas.microsoft.com/office/drawing/2014/main" id="{0E9D167B-D3F7-44BA-B3DA-1DDA6142720E}"/>
              </a:ext>
            </a:extLst>
          </p:cNvPr>
          <p:cNvSpPr>
            <a:spLocks xmlns:a="http://schemas.openxmlformats.org/drawingml/2006/main" noGrp="1"/>
          </p:cNvSpPr>
          <p:nvPr/>
        </p:nvSpPr>
        <p:spPr>
          <a:xfrm xmlns:a="http://schemas.openxmlformats.org/drawingml/2006/main">
            <a:off x="62865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C6070"/>
                </a:solidFill>
                <a:latin typeface="Arial"/>
                <a:ea typeface="Arial"/>
                <a:cs typeface="Arial"/>
              </a:defRPr>
            </a:defPPr>
          </a:lstStyle>
          <a:p xmlns:a="http://schemas.openxmlformats.org/drawingml/2006/main">
            <a:pPr>
              <a:defRPr sz="1500" b="0">
                <a:solidFill>
                  <a:srgbClr val="4C6070"/>
                </a:solidFill>
              </a:defRPr>
            </a:pPr>
            <a:r>
              <a:rPr sz="1500" b="0">
                <a:solidFill>
                  <a:srgbClr val="4C6070"/>
                </a:solidFill>
                <a:latin typeface="Arial"/>
                <a:ea typeface="Arial"/>
                <a:cs typeface="Arial"/>
              </a:rPr>
              <a:t>Arda, then all members   10:45-11:15, then questions to 13:15</a:t>
            </a:r>
          </a:p>
        </p:txBody>
      </p:sp>
    </p:spTree>
    <p:extLst>
      <p:ext uri="{BB962C8B-B14F-4D97-AF65-F5344CB8AC3E}">
        <p14:creationId xmlns:p14="http://schemas.microsoft.com/office/powerpoint/2010/main" val="12159303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2026-10-16T22:23:44.5060000Z</dcterms:created>
  <dcterms:modified xsi:type="dcterms:W3CDTF">2026-10-16T22:23:44.5070000Z</dcterms:modified>
</coreProperties>
</file>